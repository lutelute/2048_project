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平均スコア</c:v>
                </c:pt>
              </c:strCache>
            </c:strRef>
          </c:tx>
          <c:spPr>
            <a:solidFill>
              <a:srgbClr val="BBADA0"/>
            </a:solidFill>
            <a:effectLst/>
          </c:spPr>
          <c:invertIfNegative val="0"/>
          <c:dLbls>
            <c:numFmt formatCode="#,##0" sourceLinked="0"/>
            <c:txPr>
              <a:bodyPr/>
              <a:lstStyle/>
              <a:p>
                <a:pPr>
                  <a:defRPr b="0" i="0" strike="noStrike" sz="1000" u="none">
                    <a:solidFill>
                      <a:srgbClr val="776E65"/>
                    </a:solidFill>
                    <a:latin typeface="Arial"/>
                  </a:defRPr>
                </a:pPr>
              </a:p>
            </c:txPr>
            <c:showLegendKey val="0"/>
            <c:showVal val="1"/>
            <c:showCatName val="0"/>
            <c:showSerName val="0"/>
            <c:showPercent val="0"/>
            <c:showBubbleSize val="0"/>
            <c:showLeaderLines val="0"/>
          </c:dLbls>
          <c:dPt>
            <c:idx val="0"/>
            <c:invertIfNegative val="0"/>
            <c:bubble3D val="0"/>
            <c:spPr>
              <a:solidFill>
                <a:srgbClr val="BBADA0"/>
              </a:solidFill>
              <a:effectLst/>
            </c:spPr>
          </c:dPt>
          <c:dPt>
            <c:idx val="1"/>
            <c:invertIfNegative val="0"/>
            <c:bubble3D val="0"/>
            <c:spPr>
              <a:solidFill>
                <a:srgbClr val="F2B179"/>
              </a:solidFill>
              <a:effectLst/>
            </c:spPr>
          </c:dPt>
          <c:dPt>
            <c:idx val="2"/>
            <c:invertIfNegative val="0"/>
            <c:bubble3D val="0"/>
            <c:spPr>
              <a:solidFill>
                <a:srgbClr val="F59563"/>
              </a:solidFill>
              <a:effectLst/>
            </c:spPr>
          </c:dPt>
          <c:dPt>
            <c:idx val="3"/>
            <c:invertIfNegative val="0"/>
            <c:bubble3D val="0"/>
            <c:spPr>
              <a:solidFill>
                <a:srgbClr val="F65E3B"/>
              </a:solidFill>
              <a:effectLst/>
            </c:spPr>
          </c:dPt>
          <c:dPt>
            <c:idx val="4"/>
            <c:invertIfNegative val="0"/>
            <c:bubble3D val="0"/>
            <c:spPr>
              <a:solidFill>
                <a:srgbClr val="EDC22E"/>
              </a:solidFill>
              <a:effectLst/>
            </c:spPr>
          </c:dPt>
          <c:cat>
            <c:multiLvlStrRef>
              <c:f>Sheet1!$A$2:$A$6</c:f>
              <c:multiLvlStrCache>
                <c:ptCount val="5"/>
                <c:lvl>
                  <c:pt idx="0">
                    <c:v>random</c:v>
                  </c:pt>
                  <c:pt idx="1">
                    <c:v>greedy</c:v>
                  </c:pt>
                  <c:pt idx="2">
                    <c:v>montecarlo</c:v>
                  </c:pt>
                  <c:pt idx="3">
                    <c:v>expectimax</c:v>
                  </c:pt>
                  <c:pt idx="4">
                    <c:v>rl</c:v>
                  </c:pt>
                </c:lvl>
              </c:multiLvlStrCache>
            </c:multiLvlStrRef>
          </c:cat>
          <c:val>
            <c:numRef>
              <c:f>Sheet1!$B$2:$B$6</c:f>
              <c:numCache>
                <c:formatCode>General</c:formatCode>
                <c:ptCount val="5"/>
                <c:pt idx="0">
                  <c:v>1114</c:v>
                </c:pt>
                <c:pt idx="1">
                  <c:v>3086</c:v>
                </c:pt>
                <c:pt idx="2">
                  <c:v>12000</c:v>
                </c:pt>
                <c:pt idx="3">
                  <c:v>21370</c:v>
                </c:pt>
                <c:pt idx="4">
                  <c:v>29086</c:v>
                </c:pt>
              </c:numCache>
            </c:numRef>
          </c:val>
        </c:ser>
        <c:dLbls>
          <c:numFmt formatCode="#,##0" sourceLinked="0"/>
          <c:txPr>
            <a:bodyPr/>
            <a:lstStyle/>
            <a:p>
              <a:pPr>
                <a:defRPr b="0" i="0" strike="noStrike" sz="1000" u="none">
                  <a:solidFill>
                    <a:srgbClr val="776E6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76E6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0D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8F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平均スコア (100ゲームごと)</c:v>
                </c:pt>
              </c:strCache>
            </c:strRef>
          </c:tx>
          <c:spPr>
            <a:solidFill>
              <a:srgbClr val="F65E3B"/>
            </a:solidFill>
            <a:ln w="38100" cap="flat">
              <a:solidFill>
                <a:srgbClr val="F65E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65E3B"/>
              </a:solidFill>
              <a:ln w="9525" cap="flat">
                <a:solidFill>
                  <a:srgbClr val="F65E3B"/>
                </a:solidFill>
                <a:prstDash val="solid"/>
                <a:round/>
              </a:ln>
              <a:effectLst/>
            </c:spPr>
          </c:marker>
          <c:cat>
            <c:multiLvlStrRef>
              <c:f>Sheet1!$A$2:$A$11</c:f>
              <c:multiLvlStrCache>
                <c:ptCount val="10"/>
                <c:lvl>
                  <c:pt idx="0">
                    <c:v>100</c:v>
                  </c:pt>
                  <c:pt idx="1">
                    <c:v>200</c:v>
                  </c:pt>
                  <c:pt idx="2">
                    <c:v>300</c:v>
                  </c:pt>
                  <c:pt idx="3">
                    <c:v>400</c:v>
                  </c:pt>
                  <c:pt idx="4">
                    <c:v>500</c:v>
                  </c:pt>
                  <c:pt idx="5">
                    <c:v>600</c:v>
                  </c:pt>
                  <c:pt idx="6">
                    <c:v>700</c:v>
                  </c:pt>
                  <c:pt idx="7">
                    <c:v>800</c:v>
                  </c:pt>
                  <c:pt idx="8">
                    <c:v>900</c:v>
                  </c:pt>
                  <c:pt idx="9">
                    <c:v>1000</c:v>
                  </c:pt>
                </c:lvl>
              </c:multiLvlStrCache>
            </c:multiLvlStrRef>
          </c:cat>
          <c:val>
            <c:numRef>
              <c:f>Sheet1!$B$2:$B$11</c:f>
              <c:numCache>
                <c:formatCode>General</c:formatCode>
                <c:ptCount val="10"/>
                <c:pt idx="0">
                  <c:v>2274</c:v>
                </c:pt>
                <c:pt idx="1">
                  <c:v>3047</c:v>
                </c:pt>
                <c:pt idx="2">
                  <c:v>4037</c:v>
                </c:pt>
                <c:pt idx="3">
                  <c:v>4594</c:v>
                </c:pt>
                <c:pt idx="4">
                  <c:v>4804</c:v>
                </c:pt>
                <c:pt idx="5">
                  <c:v>5624</c:v>
                </c:pt>
                <c:pt idx="6">
                  <c:v>5746</c:v>
                </c:pt>
                <c:pt idx="7">
                  <c:v>6566</c:v>
                </c:pt>
                <c:pt idx="8">
                  <c:v>6920</c:v>
                </c:pt>
                <c:pt idx="9">
                  <c:v>6912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76E6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0D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8F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平均スコア</c:v>
                </c:pt>
              </c:strCache>
            </c:strRef>
          </c:tx>
          <c:spPr>
            <a:solidFill>
              <a:srgbClr val="BBADA0"/>
            </a:solidFill>
            <a:effectLst/>
          </c:spPr>
          <c:invertIfNegative val="0"/>
          <c:dLbls>
            <c:numFmt formatCode="#,##0" sourceLinked="0"/>
            <c:txPr>
              <a:bodyPr/>
              <a:lstStyle/>
              <a:p>
                <a:pPr>
                  <a:defRPr b="0" i="0" strike="noStrike" sz="1000" u="none">
                    <a:solidFill>
                      <a:srgbClr val="776E65"/>
                    </a:solidFill>
                    <a:latin typeface="Arial"/>
                  </a:defRPr>
                </a:pPr>
              </a:p>
            </c:txPr>
            <c:showLegendKey val="0"/>
            <c:showVal val="1"/>
            <c:showCatName val="0"/>
            <c:showSerName val="0"/>
            <c:showPercent val="0"/>
            <c:showBubbleSize val="0"/>
            <c:showLeaderLines val="0"/>
          </c:dLbls>
          <c:dPt>
            <c:idx val="0"/>
            <c:invertIfNegative val="0"/>
            <c:bubble3D val="0"/>
            <c:spPr>
              <a:solidFill>
                <a:srgbClr val="BBADA0"/>
              </a:solidFill>
              <a:effectLst/>
            </c:spPr>
          </c:dPt>
          <c:dPt>
            <c:idx val="1"/>
            <c:invertIfNegative val="0"/>
            <c:bubble3D val="0"/>
            <c:spPr>
              <a:solidFill>
                <a:srgbClr val="F59563"/>
              </a:solidFill>
              <a:effectLst/>
            </c:spPr>
          </c:dPt>
          <c:dPt>
            <c:idx val="2"/>
            <c:invertIfNegative val="0"/>
            <c:bubble3D val="0"/>
            <c:spPr>
              <a:solidFill>
                <a:srgbClr val="EDC22E"/>
              </a:solidFill>
              <a:effectLst/>
            </c:spPr>
          </c:dPt>
          <c:cat>
            <c:multiLvlStrRef>
              <c:f>Sheet1!$A$2:$A$4</c:f>
              <c:multiLvlStrCache>
                <c:ptCount val="3"/>
                <c:lvl>
                  <c:pt idx="0">
                    <c:v>Step 0: random</c:v>
                  </c:pt>
                  <c:pt idx="1">
                    <c:v>Step 1: greedy</c:v>
                  </c:pt>
                  <c:pt idx="2">
                    <c:v>Step 2: expectimax</c:v>
                  </c:pt>
                </c:lvl>
              </c:multiLvlStrCache>
            </c:multiLvlStrRef>
          </c:cat>
          <c:val>
            <c:numRef>
              <c:f>Sheet1!$B$2:$B$4</c:f>
              <c:numCache>
                <c:formatCode>General</c:formatCode>
                <c:ptCount val="3"/>
                <c:pt idx="0">
                  <c:v>1114</c:v>
                </c:pt>
                <c:pt idx="1">
                  <c:v>3086</c:v>
                </c:pt>
                <c:pt idx="2">
                  <c:v>21370</c:v>
                </c:pt>
              </c:numCache>
            </c:numRef>
          </c:val>
        </c:ser>
        <c:dLbls>
          <c:numFmt formatCode="#,##0" sourceLinked="0"/>
          <c:txPr>
            <a:bodyPr/>
            <a:lstStyle/>
            <a:p>
              <a:pPr>
                <a:defRPr b="0" i="0" strike="noStrike" sz="1000" u="none">
                  <a:solidFill>
                    <a:srgbClr val="776E6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776E6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8E0D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A8F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C3A32"/>
        </a:solidFill>
      </p:bgPr>
    </p:bg>
    <p:spTree>
      <p:nvGrpSpPr>
        <p:cNvPr id="1" name=""/>
        <p:cNvGrpSpPr/>
        <p:nvPr/>
      </p:nvGrpSpPr>
      <p:grpSpPr>
        <a:xfrm>
          <a:off x="0" y="0"/>
          <a:ext cx="0" cy="0"/>
          <a:chOff x="0" y="0"/>
          <a:chExt cx="0" cy="0"/>
        </a:xfrm>
      </p:grpSpPr>
      <p:sp>
        <p:nvSpPr>
          <p:cNvPr id="2" name="Shape 0"/>
          <p:cNvSpPr/>
          <p:nvPr/>
        </p:nvSpPr>
        <p:spPr>
          <a:xfrm>
            <a:off x="2487168" y="868680"/>
            <a:ext cx="960120" cy="960120"/>
          </a:xfrm>
          <a:prstGeom prst="roundRect">
            <a:avLst>
              <a:gd name="adj" fmla="val 5714"/>
            </a:avLst>
          </a:prstGeom>
          <a:solidFill>
            <a:srgbClr val="EEE4DA"/>
          </a:solidFill>
          <a:ln/>
          <a:effectLst>
            <a:outerShdw sx="100000" sy="100000" kx="0" ky="0" algn="bl" rotWithShape="0" blurRad="50800" dist="25400" dir="8100000">
              <a:srgbClr val="9A8F84">
                <a:alpha val="30000"/>
              </a:srgbClr>
            </a:outerShdw>
          </a:effectLst>
        </p:spPr>
      </p:sp>
      <p:sp>
        <p:nvSpPr>
          <p:cNvPr id="3" name="Text 1"/>
          <p:cNvSpPr/>
          <p:nvPr/>
        </p:nvSpPr>
        <p:spPr>
          <a:xfrm>
            <a:off x="2487168" y="850392"/>
            <a:ext cx="960120" cy="960120"/>
          </a:xfrm>
          <a:prstGeom prst="rect">
            <a:avLst/>
          </a:prstGeom>
          <a:noFill/>
          <a:ln/>
        </p:spPr>
        <p:txBody>
          <a:bodyPr wrap="square" lIns="0" tIns="0" rIns="0" bIns="0" rtlCol="0" anchor="ctr"/>
          <a:lstStyle/>
          <a:p>
            <a:pPr algn="ctr" indent="0" marL="0">
              <a:buNone/>
            </a:pPr>
            <a:r>
              <a:rPr lang="en-US" sz="4000" b="1" dirty="0">
                <a:solidFill>
                  <a:srgbClr val="776E65"/>
                </a:solidFill>
                <a:latin typeface="Trebuchet MS" pitchFamily="34" charset="0"/>
                <a:ea typeface="Trebuchet MS" pitchFamily="34" charset="-122"/>
                <a:cs typeface="Trebuchet MS" pitchFamily="34" charset="-120"/>
              </a:rPr>
              <a:t>2</a:t>
            </a:r>
            <a:endParaRPr lang="en-US" sz="4000" dirty="0"/>
          </a:p>
        </p:txBody>
      </p:sp>
      <p:sp>
        <p:nvSpPr>
          <p:cNvPr id="4" name="Shape 2"/>
          <p:cNvSpPr/>
          <p:nvPr/>
        </p:nvSpPr>
        <p:spPr>
          <a:xfrm>
            <a:off x="3557016" y="868680"/>
            <a:ext cx="960120" cy="960120"/>
          </a:xfrm>
          <a:prstGeom prst="roundRect">
            <a:avLst>
              <a:gd name="adj" fmla="val 5714"/>
            </a:avLst>
          </a:prstGeom>
          <a:solidFill>
            <a:srgbClr val="BBADA0"/>
          </a:solidFill>
          <a:ln/>
          <a:effectLst>
            <a:outerShdw sx="100000" sy="100000" kx="0" ky="0" algn="bl" rotWithShape="0" blurRad="50800" dist="25400" dir="8100000">
              <a:srgbClr val="9A8F84">
                <a:alpha val="30000"/>
              </a:srgbClr>
            </a:outerShdw>
          </a:effectLst>
        </p:spPr>
      </p:sp>
      <p:sp>
        <p:nvSpPr>
          <p:cNvPr id="5" name="Text 3"/>
          <p:cNvSpPr/>
          <p:nvPr/>
        </p:nvSpPr>
        <p:spPr>
          <a:xfrm>
            <a:off x="3557016" y="850392"/>
            <a:ext cx="960120" cy="960120"/>
          </a:xfrm>
          <a:prstGeom prst="rect">
            <a:avLst/>
          </a:prstGeom>
          <a:noFill/>
          <a:ln/>
        </p:spPr>
        <p:txBody>
          <a:bodyPr wrap="square" lIns="0" tIns="0" rIns="0" bIns="0" rtlCol="0" anchor="ctr"/>
          <a:lstStyle/>
          <a:p>
            <a:pPr algn="ctr" indent="0" marL="0">
              <a:buNone/>
            </a:pPr>
            <a:r>
              <a:rPr lang="en-US" sz="4000" b="1" dirty="0">
                <a:solidFill>
                  <a:srgbClr val="776E65"/>
                </a:solidFill>
                <a:latin typeface="Trebuchet MS" pitchFamily="34" charset="0"/>
                <a:ea typeface="Trebuchet MS" pitchFamily="34" charset="-122"/>
                <a:cs typeface="Trebuchet MS" pitchFamily="34" charset="-120"/>
              </a:rPr>
              <a:t>0</a:t>
            </a:r>
            <a:endParaRPr lang="en-US" sz="4000" dirty="0"/>
          </a:p>
        </p:txBody>
      </p:sp>
      <p:sp>
        <p:nvSpPr>
          <p:cNvPr id="6" name="Shape 4"/>
          <p:cNvSpPr/>
          <p:nvPr/>
        </p:nvSpPr>
        <p:spPr>
          <a:xfrm>
            <a:off x="4626864" y="868680"/>
            <a:ext cx="960120" cy="960120"/>
          </a:xfrm>
          <a:prstGeom prst="roundRect">
            <a:avLst>
              <a:gd name="adj" fmla="val 5714"/>
            </a:avLst>
          </a:prstGeom>
          <a:solidFill>
            <a:srgbClr val="EDE0C8"/>
          </a:solidFill>
          <a:ln/>
          <a:effectLst>
            <a:outerShdw sx="100000" sy="100000" kx="0" ky="0" algn="bl" rotWithShape="0" blurRad="50800" dist="25400" dir="8100000">
              <a:srgbClr val="9A8F84">
                <a:alpha val="30000"/>
              </a:srgbClr>
            </a:outerShdw>
          </a:effectLst>
        </p:spPr>
      </p:sp>
      <p:sp>
        <p:nvSpPr>
          <p:cNvPr id="7" name="Text 5"/>
          <p:cNvSpPr/>
          <p:nvPr/>
        </p:nvSpPr>
        <p:spPr>
          <a:xfrm>
            <a:off x="4626864" y="850392"/>
            <a:ext cx="960120" cy="960120"/>
          </a:xfrm>
          <a:prstGeom prst="rect">
            <a:avLst/>
          </a:prstGeom>
          <a:noFill/>
          <a:ln/>
        </p:spPr>
        <p:txBody>
          <a:bodyPr wrap="square" lIns="0" tIns="0" rIns="0" bIns="0" rtlCol="0" anchor="ctr"/>
          <a:lstStyle/>
          <a:p>
            <a:pPr algn="ctr" indent="0" marL="0">
              <a:buNone/>
            </a:pPr>
            <a:r>
              <a:rPr lang="en-US" sz="4000" b="1" dirty="0">
                <a:solidFill>
                  <a:srgbClr val="776E65"/>
                </a:solidFill>
                <a:latin typeface="Trebuchet MS" pitchFamily="34" charset="0"/>
                <a:ea typeface="Trebuchet MS" pitchFamily="34" charset="-122"/>
                <a:cs typeface="Trebuchet MS" pitchFamily="34" charset="-120"/>
              </a:rPr>
              <a:t>4</a:t>
            </a:r>
            <a:endParaRPr lang="en-US" sz="4000" dirty="0"/>
          </a:p>
        </p:txBody>
      </p:sp>
      <p:sp>
        <p:nvSpPr>
          <p:cNvPr id="8" name="Shape 6"/>
          <p:cNvSpPr/>
          <p:nvPr/>
        </p:nvSpPr>
        <p:spPr>
          <a:xfrm>
            <a:off x="5696712" y="868680"/>
            <a:ext cx="960120" cy="960120"/>
          </a:xfrm>
          <a:prstGeom prst="roundRect">
            <a:avLst>
              <a:gd name="adj" fmla="val 5714"/>
            </a:avLst>
          </a:prstGeom>
          <a:solidFill>
            <a:srgbClr val="F59563"/>
          </a:solidFill>
          <a:ln/>
          <a:effectLst>
            <a:outerShdw sx="100000" sy="100000" kx="0" ky="0" algn="bl" rotWithShape="0" blurRad="50800" dist="25400" dir="8100000">
              <a:srgbClr val="9A8F84">
                <a:alpha val="30000"/>
              </a:srgbClr>
            </a:outerShdw>
          </a:effectLst>
        </p:spPr>
      </p:sp>
      <p:sp>
        <p:nvSpPr>
          <p:cNvPr id="9" name="Text 7"/>
          <p:cNvSpPr/>
          <p:nvPr/>
        </p:nvSpPr>
        <p:spPr>
          <a:xfrm>
            <a:off x="5696712" y="850392"/>
            <a:ext cx="960120" cy="960120"/>
          </a:xfrm>
          <a:prstGeom prst="rect">
            <a:avLst/>
          </a:prstGeom>
          <a:noFill/>
          <a:ln/>
        </p:spPr>
        <p:txBody>
          <a:bodyPr wrap="square" lIns="0" tIns="0" rIns="0" bIns="0" rtlCol="0" anchor="ctr"/>
          <a:lstStyle/>
          <a:p>
            <a:pPr algn="ctr" indent="0" marL="0">
              <a:buNone/>
            </a:pPr>
            <a:r>
              <a:rPr lang="en-US" sz="4000" b="1" dirty="0">
                <a:solidFill>
                  <a:srgbClr val="F9F6F2"/>
                </a:solidFill>
                <a:latin typeface="Trebuchet MS" pitchFamily="34" charset="0"/>
                <a:ea typeface="Trebuchet MS" pitchFamily="34" charset="-122"/>
                <a:cs typeface="Trebuchet MS" pitchFamily="34" charset="-120"/>
              </a:rPr>
              <a:t>8</a:t>
            </a:r>
            <a:endParaRPr lang="en-US" sz="4000" dirty="0"/>
          </a:p>
        </p:txBody>
      </p:sp>
      <p:sp>
        <p:nvSpPr>
          <p:cNvPr id="10" name="Text 8"/>
          <p:cNvSpPr/>
          <p:nvPr/>
        </p:nvSpPr>
        <p:spPr>
          <a:xfrm>
            <a:off x="457200" y="2194560"/>
            <a:ext cx="8229600" cy="640080"/>
          </a:xfrm>
          <a:prstGeom prst="rect">
            <a:avLst/>
          </a:prstGeom>
          <a:noFill/>
          <a:ln/>
        </p:spPr>
        <p:txBody>
          <a:bodyPr wrap="square" lIns="0" tIns="0" rIns="0" bIns="0" rtlCol="0" anchor="ctr"/>
          <a:lstStyle/>
          <a:p>
            <a:pPr algn="ctr" indent="0" marL="0">
              <a:buNone/>
            </a:pPr>
            <a:r>
              <a:rPr lang="en-US" sz="3800" b="1" dirty="0">
                <a:solidFill>
                  <a:srgbClr val="F9F6F2"/>
                </a:solidFill>
                <a:latin typeface="Trebuchet MS" pitchFamily="34" charset="0"/>
                <a:ea typeface="Trebuchet MS" pitchFamily="34" charset="-122"/>
                <a:cs typeface="Trebuchet MS" pitchFamily="34" charset="-120"/>
              </a:rPr>
              <a:t>AI Benchmark Platform</a:t>
            </a:r>
            <a:endParaRPr lang="en-US" sz="3800" dirty="0"/>
          </a:p>
        </p:txBody>
      </p:sp>
      <p:sp>
        <p:nvSpPr>
          <p:cNvPr id="11" name="Text 9"/>
          <p:cNvSpPr/>
          <p:nvPr/>
        </p:nvSpPr>
        <p:spPr>
          <a:xfrm>
            <a:off x="365760" y="2926080"/>
            <a:ext cx="8412480" cy="365760"/>
          </a:xfrm>
          <a:prstGeom prst="rect">
            <a:avLst/>
          </a:prstGeom>
          <a:noFill/>
          <a:ln/>
        </p:spPr>
        <p:txBody>
          <a:bodyPr wrap="square" lIns="0" tIns="0" rIns="0" bIns="0" rtlCol="0" anchor="ctr"/>
          <a:lstStyle/>
          <a:p>
            <a:pPr algn="ctr" indent="0" marL="0">
              <a:buNone/>
            </a:pPr>
            <a:r>
              <a:rPr lang="en-US" sz="1400" dirty="0">
                <a:solidFill>
                  <a:srgbClr val="EEE4DA"/>
                </a:solidFill>
                <a:latin typeface="Yu Gothic" pitchFamily="34" charset="0"/>
                <a:ea typeface="Yu Gothic" pitchFamily="34" charset="-122"/>
                <a:cs typeface="Yu Gothic" pitchFamily="34" charset="-120"/>
              </a:rPr>
              <a:t>AIエージェントを2048で測る — ブラウザ操作・アルゴリズム設計・自己改善</a:t>
            </a:r>
            <a:endParaRPr lang="en-US" sz="1400" dirty="0"/>
          </a:p>
        </p:txBody>
      </p:sp>
      <p:sp>
        <p:nvSpPr>
          <p:cNvPr id="12" name="Text 10"/>
          <p:cNvSpPr/>
          <p:nvPr/>
        </p:nvSpPr>
        <p:spPr>
          <a:xfrm>
            <a:off x="2286000" y="3703320"/>
            <a:ext cx="4572000" cy="548640"/>
          </a:xfrm>
          <a:prstGeom prst="rect">
            <a:avLst/>
          </a:prstGeom>
          <a:noFill/>
          <a:ln/>
        </p:spPr>
        <p:txBody>
          <a:bodyPr wrap="square" lIns="0" tIns="0" rIns="0" bIns="0" rtlCol="0" anchor="ctr"/>
          <a:lstStyle/>
          <a:p>
            <a:pPr algn="ctr" indent="0" marL="0">
              <a:buNone/>
            </a:pPr>
            <a:r>
              <a:rPr lang="en-US" sz="1200" dirty="0">
                <a:solidFill>
                  <a:srgbClr val="EDC22E"/>
                </a:solidFill>
                <a:latin typeface="Trebuchet MS" pitchFamily="34" charset="0"/>
                <a:ea typeface="Trebuchet MS" pitchFamily="34" charset="-122"/>
                <a:cs typeface="Trebuchet MS" pitchFamily="34" charset="-120"/>
              </a:rPr>
              <a:t>github.com/lutelute/2048_project</a:t>
            </a:r>
            <a:endParaRPr lang="en-US" sz="1200" dirty="0"/>
          </a:p>
          <a:p>
            <a:pPr algn="ctr" indent="0" marL="0">
              <a:buNone/>
            </a:pPr>
            <a:r>
              <a:rPr lang="en-US" sz="1200" dirty="0">
                <a:solidFill>
                  <a:srgbClr val="BBADA0"/>
                </a:solidFill>
                <a:latin typeface="Trebuchet MS" pitchFamily="34" charset="0"/>
                <a:ea typeface="Trebuchet MS" pitchFamily="34" charset="-122"/>
                <a:cs typeface="Trebuchet MS" pitchFamily="34" charset="-120"/>
              </a:rPr>
              <a:t>lutelute.github.io/2048_project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EF"/>
        </a:solidFill>
      </p:bgPr>
    </p:bg>
    <p:spTree>
      <p:nvGrpSpPr>
        <p:cNvPr id="1" name=""/>
        <p:cNvGrpSpPr/>
        <p:nvPr/>
      </p:nvGrpSpPr>
      <p:grpSpPr>
        <a:xfrm>
          <a:off x="0" y="0"/>
          <a:ext cx="0" cy="0"/>
          <a:chOff x="0" y="0"/>
          <a:chExt cx="0" cy="0"/>
        </a:xfrm>
      </p:grpSpPr>
      <p:sp>
        <p:nvSpPr>
          <p:cNvPr id="2" name="Text 0"/>
          <p:cNvSpPr/>
          <p:nvPr/>
        </p:nvSpPr>
        <p:spPr>
          <a:xfrm>
            <a:off x="502920" y="292608"/>
            <a:ext cx="8138160" cy="502920"/>
          </a:xfrm>
          <a:prstGeom prst="rect">
            <a:avLst/>
          </a:prstGeom>
          <a:noFill/>
          <a:ln/>
        </p:spPr>
        <p:txBody>
          <a:bodyPr wrap="square" lIns="0" tIns="0" rIns="0" bIns="0" rtlCol="0" anchor="ctr"/>
          <a:lstStyle/>
          <a:p>
            <a:pPr indent="0" marL="0">
              <a:buNone/>
            </a:pPr>
            <a:r>
              <a:rPr lang="en-US" sz="2600" b="1" dirty="0">
                <a:solidFill>
                  <a:srgbClr val="776E65"/>
                </a:solidFill>
                <a:latin typeface="Yu Gothic" pitchFamily="34" charset="0"/>
                <a:ea typeface="Yu Gothic" pitchFamily="34" charset="-122"/>
                <a:cs typeface="Yu Gothic" pitchFamily="34" charset="-120"/>
              </a:rPr>
              <a:t>何を測るか — AIエージェントの4つの能力</a:t>
            </a:r>
            <a:endParaRPr lang="en-US" sz="2600" dirty="0"/>
          </a:p>
        </p:txBody>
      </p:sp>
      <p:sp>
        <p:nvSpPr>
          <p:cNvPr id="3" name="Text 1"/>
          <p:cNvSpPr/>
          <p:nvPr/>
        </p:nvSpPr>
        <p:spPr>
          <a:xfrm>
            <a:off x="502920" y="786384"/>
            <a:ext cx="8138160" cy="274320"/>
          </a:xfrm>
          <a:prstGeom prst="rect">
            <a:avLst/>
          </a:prstGeom>
          <a:noFill/>
          <a:ln/>
        </p:spPr>
        <p:txBody>
          <a:bodyPr wrap="square" lIns="0" tIns="0" rIns="0" bIns="0" rtlCol="0" anchor="ctr"/>
          <a:lstStyle/>
          <a:p>
            <a:pPr indent="0" marL="0">
              <a:buNone/>
            </a:pPr>
            <a:r>
              <a:rPr lang="en-US" sz="1200" spc="200" kern="0" dirty="0">
                <a:solidFill>
                  <a:srgbClr val="9A8F84"/>
                </a:solidFill>
                <a:latin typeface="Trebuchet MS" pitchFamily="34" charset="0"/>
                <a:ea typeface="Trebuchet MS" pitchFamily="34" charset="-122"/>
                <a:cs typeface="Trebuchet MS" pitchFamily="34" charset="-120"/>
              </a:rPr>
              <a:t>WHAT THIS BENCHMARK MEASURES</a:t>
            </a:r>
            <a:endParaRPr lang="en-US" sz="1200" dirty="0"/>
          </a:p>
        </p:txBody>
      </p:sp>
      <p:sp>
        <p:nvSpPr>
          <p:cNvPr id="4" name="Shape 2"/>
          <p:cNvSpPr/>
          <p:nvPr/>
        </p:nvSpPr>
        <p:spPr>
          <a:xfrm>
            <a:off x="502920" y="1325880"/>
            <a:ext cx="1920240" cy="3154680"/>
          </a:xfrm>
          <a:prstGeom prst="roundRect">
            <a:avLst>
              <a:gd name="adj" fmla="val 3810"/>
            </a:avLst>
          </a:prstGeom>
          <a:solidFill>
            <a:srgbClr val="FFFFFF"/>
          </a:solidFill>
          <a:ln/>
          <a:effectLst>
            <a:outerShdw sx="100000" sy="100000" kx="0" ky="0" algn="bl" rotWithShape="0" blurRad="63500" dist="25400" dir="8100000">
              <a:srgbClr val="9A8F84">
                <a:alpha val="25000"/>
              </a:srgbClr>
            </a:outerShdw>
          </a:effectLst>
        </p:spPr>
      </p:sp>
      <p:sp>
        <p:nvSpPr>
          <p:cNvPr id="5" name="Shape 3"/>
          <p:cNvSpPr/>
          <p:nvPr/>
        </p:nvSpPr>
        <p:spPr>
          <a:xfrm>
            <a:off x="1051560" y="1645920"/>
            <a:ext cx="822960" cy="822960"/>
          </a:xfrm>
          <a:prstGeom prst="roundRect">
            <a:avLst>
              <a:gd name="adj" fmla="val 6667"/>
            </a:avLst>
          </a:prstGeom>
          <a:solidFill>
            <a:srgbClr val="EEE4DA"/>
          </a:solidFill>
          <a:ln/>
          <a:effectLst>
            <a:outerShdw sx="100000" sy="100000" kx="0" ky="0" algn="bl" rotWithShape="0" blurRad="50800" dist="25400" dir="8100000">
              <a:srgbClr val="9A8F84">
                <a:alpha val="30000"/>
              </a:srgbClr>
            </a:outerShdw>
          </a:effectLst>
        </p:spPr>
      </p:sp>
      <p:sp>
        <p:nvSpPr>
          <p:cNvPr id="6" name="Text 4"/>
          <p:cNvSpPr/>
          <p:nvPr/>
        </p:nvSpPr>
        <p:spPr>
          <a:xfrm>
            <a:off x="1051560" y="1627632"/>
            <a:ext cx="822960" cy="822960"/>
          </a:xfrm>
          <a:prstGeom prst="rect">
            <a:avLst/>
          </a:prstGeom>
          <a:noFill/>
          <a:ln/>
        </p:spPr>
        <p:txBody>
          <a:bodyPr wrap="square" lIns="0" tIns="0" rIns="0" bIns="0" rtlCol="0" anchor="ctr"/>
          <a:lstStyle/>
          <a:p>
            <a:pPr algn="ctr" indent="0" marL="0">
              <a:buNone/>
            </a:pPr>
            <a:r>
              <a:rPr lang="en-US" sz="3000" b="1" dirty="0">
                <a:solidFill>
                  <a:srgbClr val="776E65"/>
                </a:solidFill>
                <a:latin typeface="Trebuchet MS" pitchFamily="34" charset="0"/>
                <a:ea typeface="Trebuchet MS" pitchFamily="34" charset="-122"/>
                <a:cs typeface="Trebuchet MS" pitchFamily="34" charset="-120"/>
              </a:rPr>
              <a:t>2</a:t>
            </a:r>
            <a:endParaRPr lang="en-US" sz="3000" dirty="0"/>
          </a:p>
        </p:txBody>
      </p:sp>
      <p:sp>
        <p:nvSpPr>
          <p:cNvPr id="7" name="Text 5"/>
          <p:cNvSpPr/>
          <p:nvPr/>
        </p:nvSpPr>
        <p:spPr>
          <a:xfrm>
            <a:off x="594360" y="2670048"/>
            <a:ext cx="1737360" cy="320040"/>
          </a:xfrm>
          <a:prstGeom prst="rect">
            <a:avLst/>
          </a:prstGeom>
          <a:noFill/>
          <a:ln/>
        </p:spPr>
        <p:txBody>
          <a:bodyPr wrap="square" lIns="0" tIns="0" rIns="0" bIns="0" rtlCol="0" anchor="ctr"/>
          <a:lstStyle/>
          <a:p>
            <a:pPr algn="ctr" indent="0" marL="0">
              <a:buNone/>
            </a:pPr>
            <a:r>
              <a:rPr lang="en-US" sz="1450" b="1" dirty="0">
                <a:solidFill>
                  <a:srgbClr val="776E65"/>
                </a:solidFill>
                <a:latin typeface="Yu Gothic" pitchFamily="34" charset="0"/>
                <a:ea typeface="Yu Gothic" pitchFamily="34" charset="-122"/>
                <a:cs typeface="Yu Gothic" pitchFamily="34" charset="-120"/>
              </a:rPr>
              <a:t>視覚認識</a:t>
            </a:r>
            <a:endParaRPr lang="en-US" sz="1450" dirty="0"/>
          </a:p>
        </p:txBody>
      </p:sp>
      <p:sp>
        <p:nvSpPr>
          <p:cNvPr id="8" name="Text 6"/>
          <p:cNvSpPr/>
          <p:nvPr/>
        </p:nvSpPr>
        <p:spPr>
          <a:xfrm>
            <a:off x="685800" y="3054096"/>
            <a:ext cx="1554480" cy="1234440"/>
          </a:xfrm>
          <a:prstGeom prst="rect">
            <a:avLst/>
          </a:prstGeom>
          <a:noFill/>
          <a:ln/>
        </p:spPr>
        <p:txBody>
          <a:bodyPr wrap="square" lIns="0" tIns="0" rIns="0" bIns="0" rtlCol="0" anchor="ctr"/>
          <a:lstStyle/>
          <a:p>
            <a:pPr algn="l" indent="0" marL="0">
              <a:buNone/>
            </a:pPr>
            <a:r>
              <a:rPr lang="en-US" sz="1050" dirty="0">
                <a:solidFill>
                  <a:srgbClr val="776E65"/>
                </a:solidFill>
                <a:latin typeface="Yu Gothic" pitchFamily="34" charset="0"/>
                <a:ea typeface="Yu Gothic" pitchFamily="34" charset="-122"/>
                <a:cs typeface="Yu Gothic" pitchFamily="34" charset="-120"/>
              </a:rPr>
              <a:t>スクリーンショットだけで盤面を読む。DOM覗き見・ソース改造は禁止</a:t>
            </a:r>
            <a:endParaRPr lang="en-US" sz="1050" dirty="0"/>
          </a:p>
        </p:txBody>
      </p:sp>
      <p:sp>
        <p:nvSpPr>
          <p:cNvPr id="9" name="Shape 7"/>
          <p:cNvSpPr/>
          <p:nvPr/>
        </p:nvSpPr>
        <p:spPr>
          <a:xfrm>
            <a:off x="2578608" y="1325880"/>
            <a:ext cx="1920240" cy="3154680"/>
          </a:xfrm>
          <a:prstGeom prst="roundRect">
            <a:avLst>
              <a:gd name="adj" fmla="val 3810"/>
            </a:avLst>
          </a:prstGeom>
          <a:solidFill>
            <a:srgbClr val="FFFFFF"/>
          </a:solidFill>
          <a:ln/>
          <a:effectLst>
            <a:outerShdw sx="100000" sy="100000" kx="0" ky="0" algn="bl" rotWithShape="0" blurRad="63500" dist="25400" dir="8100000">
              <a:srgbClr val="9A8F84">
                <a:alpha val="25000"/>
              </a:srgbClr>
            </a:outerShdw>
          </a:effectLst>
        </p:spPr>
      </p:sp>
      <p:sp>
        <p:nvSpPr>
          <p:cNvPr id="10" name="Shape 8"/>
          <p:cNvSpPr/>
          <p:nvPr/>
        </p:nvSpPr>
        <p:spPr>
          <a:xfrm>
            <a:off x="3127248" y="1645920"/>
            <a:ext cx="822960" cy="822960"/>
          </a:xfrm>
          <a:prstGeom prst="roundRect">
            <a:avLst>
              <a:gd name="adj" fmla="val 6667"/>
            </a:avLst>
          </a:prstGeom>
          <a:solidFill>
            <a:srgbClr val="EDE0C8"/>
          </a:solidFill>
          <a:ln/>
          <a:effectLst>
            <a:outerShdw sx="100000" sy="100000" kx="0" ky="0" algn="bl" rotWithShape="0" blurRad="50800" dist="25400" dir="8100000">
              <a:srgbClr val="9A8F84">
                <a:alpha val="30000"/>
              </a:srgbClr>
            </a:outerShdw>
          </a:effectLst>
        </p:spPr>
      </p:sp>
      <p:sp>
        <p:nvSpPr>
          <p:cNvPr id="11" name="Text 9"/>
          <p:cNvSpPr/>
          <p:nvPr/>
        </p:nvSpPr>
        <p:spPr>
          <a:xfrm>
            <a:off x="3127248" y="1627632"/>
            <a:ext cx="822960" cy="822960"/>
          </a:xfrm>
          <a:prstGeom prst="rect">
            <a:avLst/>
          </a:prstGeom>
          <a:noFill/>
          <a:ln/>
        </p:spPr>
        <p:txBody>
          <a:bodyPr wrap="square" lIns="0" tIns="0" rIns="0" bIns="0" rtlCol="0" anchor="ctr"/>
          <a:lstStyle/>
          <a:p>
            <a:pPr algn="ctr" indent="0" marL="0">
              <a:buNone/>
            </a:pPr>
            <a:r>
              <a:rPr lang="en-US" sz="3000" b="1" dirty="0">
                <a:solidFill>
                  <a:srgbClr val="776E65"/>
                </a:solidFill>
                <a:latin typeface="Trebuchet MS" pitchFamily="34" charset="0"/>
                <a:ea typeface="Trebuchet MS" pitchFamily="34" charset="-122"/>
                <a:cs typeface="Trebuchet MS" pitchFamily="34" charset="-120"/>
              </a:rPr>
              <a:t>4</a:t>
            </a:r>
            <a:endParaRPr lang="en-US" sz="3000" dirty="0"/>
          </a:p>
        </p:txBody>
      </p:sp>
      <p:sp>
        <p:nvSpPr>
          <p:cNvPr id="12" name="Text 10"/>
          <p:cNvSpPr/>
          <p:nvPr/>
        </p:nvSpPr>
        <p:spPr>
          <a:xfrm>
            <a:off x="2670048" y="2670048"/>
            <a:ext cx="1737360" cy="320040"/>
          </a:xfrm>
          <a:prstGeom prst="rect">
            <a:avLst/>
          </a:prstGeom>
          <a:noFill/>
          <a:ln/>
        </p:spPr>
        <p:txBody>
          <a:bodyPr wrap="square" lIns="0" tIns="0" rIns="0" bIns="0" rtlCol="0" anchor="ctr"/>
          <a:lstStyle/>
          <a:p>
            <a:pPr algn="ctr" indent="0" marL="0">
              <a:buNone/>
            </a:pPr>
            <a:r>
              <a:rPr lang="en-US" sz="1450" b="1" dirty="0">
                <a:solidFill>
                  <a:srgbClr val="776E65"/>
                </a:solidFill>
                <a:latin typeface="Yu Gothic" pitchFamily="34" charset="0"/>
                <a:ea typeface="Yu Gothic" pitchFamily="34" charset="-122"/>
                <a:cs typeface="Yu Gothic" pitchFamily="34" charset="-120"/>
              </a:rPr>
              <a:t>ブラウザ操作</a:t>
            </a:r>
            <a:endParaRPr lang="en-US" sz="1450" dirty="0"/>
          </a:p>
        </p:txBody>
      </p:sp>
      <p:sp>
        <p:nvSpPr>
          <p:cNvPr id="13" name="Text 11"/>
          <p:cNvSpPr/>
          <p:nvPr/>
        </p:nvSpPr>
        <p:spPr>
          <a:xfrm>
            <a:off x="2761488" y="3054096"/>
            <a:ext cx="1554480" cy="1234440"/>
          </a:xfrm>
          <a:prstGeom prst="rect">
            <a:avLst/>
          </a:prstGeom>
          <a:noFill/>
          <a:ln/>
        </p:spPr>
        <p:txBody>
          <a:bodyPr wrap="square" lIns="0" tIns="0" rIns="0" bIns="0" rtlCol="0" anchor="ctr"/>
          <a:lstStyle/>
          <a:p>
            <a:pPr algn="l" indent="0" marL="0">
              <a:buNone/>
            </a:pPr>
            <a:r>
              <a:rPr lang="en-US" sz="1050" dirty="0">
                <a:solidFill>
                  <a:srgbClr val="776E65"/>
                </a:solidFill>
                <a:latin typeface="Yu Gothic" pitchFamily="34" charset="0"/>
                <a:ea typeface="Yu Gothic" pitchFamily="34" charset="-122"/>
                <a:cs typeface="Yu Gothic" pitchFamily="34" charset="-120"/>
              </a:rPr>
              <a:t>Playwright で実UIをキー操作。人間と同じ入り口から遊ぶ</a:t>
            </a:r>
            <a:endParaRPr lang="en-US" sz="1050" dirty="0"/>
          </a:p>
        </p:txBody>
      </p:sp>
      <p:sp>
        <p:nvSpPr>
          <p:cNvPr id="14" name="Shape 12"/>
          <p:cNvSpPr/>
          <p:nvPr/>
        </p:nvSpPr>
        <p:spPr>
          <a:xfrm>
            <a:off x="4654296" y="1325880"/>
            <a:ext cx="1920240" cy="3154680"/>
          </a:xfrm>
          <a:prstGeom prst="roundRect">
            <a:avLst>
              <a:gd name="adj" fmla="val 3810"/>
            </a:avLst>
          </a:prstGeom>
          <a:solidFill>
            <a:srgbClr val="FFFFFF"/>
          </a:solidFill>
          <a:ln/>
          <a:effectLst>
            <a:outerShdw sx="100000" sy="100000" kx="0" ky="0" algn="bl" rotWithShape="0" blurRad="63500" dist="25400" dir="8100000">
              <a:srgbClr val="9A8F84">
                <a:alpha val="25000"/>
              </a:srgbClr>
            </a:outerShdw>
          </a:effectLst>
        </p:spPr>
      </p:sp>
      <p:sp>
        <p:nvSpPr>
          <p:cNvPr id="15" name="Shape 13"/>
          <p:cNvSpPr/>
          <p:nvPr/>
        </p:nvSpPr>
        <p:spPr>
          <a:xfrm>
            <a:off x="5202936" y="1645920"/>
            <a:ext cx="822960" cy="822960"/>
          </a:xfrm>
          <a:prstGeom prst="roundRect">
            <a:avLst>
              <a:gd name="adj" fmla="val 6667"/>
            </a:avLst>
          </a:prstGeom>
          <a:solidFill>
            <a:srgbClr val="F59563"/>
          </a:solidFill>
          <a:ln/>
          <a:effectLst>
            <a:outerShdw sx="100000" sy="100000" kx="0" ky="0" algn="bl" rotWithShape="0" blurRad="50800" dist="25400" dir="8100000">
              <a:srgbClr val="9A8F84">
                <a:alpha val="30000"/>
              </a:srgbClr>
            </a:outerShdw>
          </a:effectLst>
        </p:spPr>
      </p:sp>
      <p:sp>
        <p:nvSpPr>
          <p:cNvPr id="16" name="Text 14"/>
          <p:cNvSpPr/>
          <p:nvPr/>
        </p:nvSpPr>
        <p:spPr>
          <a:xfrm>
            <a:off x="5202936" y="1627632"/>
            <a:ext cx="822960" cy="822960"/>
          </a:xfrm>
          <a:prstGeom prst="rect">
            <a:avLst/>
          </a:prstGeom>
          <a:noFill/>
          <a:ln/>
        </p:spPr>
        <p:txBody>
          <a:bodyPr wrap="square" lIns="0" tIns="0" rIns="0" bIns="0" rtlCol="0" anchor="ctr"/>
          <a:lstStyle/>
          <a:p>
            <a:pPr algn="ctr" indent="0" marL="0">
              <a:buNone/>
            </a:pPr>
            <a:r>
              <a:rPr lang="en-US" sz="3000" b="1" dirty="0">
                <a:solidFill>
                  <a:srgbClr val="F9F6F2"/>
                </a:solidFill>
                <a:latin typeface="Trebuchet MS" pitchFamily="34" charset="0"/>
                <a:ea typeface="Trebuchet MS" pitchFamily="34" charset="-122"/>
                <a:cs typeface="Trebuchet MS" pitchFamily="34" charset="-120"/>
              </a:rPr>
              <a:t>8</a:t>
            </a:r>
            <a:endParaRPr lang="en-US" sz="3000" dirty="0"/>
          </a:p>
        </p:txBody>
      </p:sp>
      <p:sp>
        <p:nvSpPr>
          <p:cNvPr id="17" name="Text 15"/>
          <p:cNvSpPr/>
          <p:nvPr/>
        </p:nvSpPr>
        <p:spPr>
          <a:xfrm>
            <a:off x="4745736" y="2670048"/>
            <a:ext cx="1737360" cy="320040"/>
          </a:xfrm>
          <a:prstGeom prst="rect">
            <a:avLst/>
          </a:prstGeom>
          <a:noFill/>
          <a:ln/>
        </p:spPr>
        <p:txBody>
          <a:bodyPr wrap="square" lIns="0" tIns="0" rIns="0" bIns="0" rtlCol="0" anchor="ctr"/>
          <a:lstStyle/>
          <a:p>
            <a:pPr algn="ctr" indent="0" marL="0">
              <a:buNone/>
            </a:pPr>
            <a:r>
              <a:rPr lang="en-US" sz="1450" b="1" dirty="0">
                <a:solidFill>
                  <a:srgbClr val="776E65"/>
                </a:solidFill>
                <a:latin typeface="Yu Gothic" pitchFamily="34" charset="0"/>
                <a:ea typeface="Yu Gothic" pitchFamily="34" charset="-122"/>
                <a:cs typeface="Yu Gothic" pitchFamily="34" charset="-120"/>
              </a:rPr>
              <a:t>アルゴリズム設計</a:t>
            </a:r>
            <a:endParaRPr lang="en-US" sz="1450" dirty="0"/>
          </a:p>
        </p:txBody>
      </p:sp>
      <p:sp>
        <p:nvSpPr>
          <p:cNvPr id="18" name="Text 16"/>
          <p:cNvSpPr/>
          <p:nvPr/>
        </p:nvSpPr>
        <p:spPr>
          <a:xfrm>
            <a:off x="4837176" y="3054096"/>
            <a:ext cx="1554480" cy="1234440"/>
          </a:xfrm>
          <a:prstGeom prst="rect">
            <a:avLst/>
          </a:prstGeom>
          <a:noFill/>
          <a:ln/>
        </p:spPr>
        <p:txBody>
          <a:bodyPr wrap="square" lIns="0" tIns="0" rIns="0" bIns="0" rtlCol="0" anchor="ctr"/>
          <a:lstStyle/>
          <a:p>
            <a:pPr algn="l" indent="0" marL="0">
              <a:buNone/>
            </a:pPr>
            <a:r>
              <a:rPr lang="en-US" sz="1050" dirty="0">
                <a:solidFill>
                  <a:srgbClr val="776E65"/>
                </a:solidFill>
                <a:latin typeface="Yu Gothic" pitchFamily="34" charset="0"/>
                <a:ea typeface="Yu Gothic" pitchFamily="34" charset="-122"/>
                <a:cs typeface="Yu Gothic" pitchFamily="34" charset="-120"/>
              </a:rPr>
              <a:t>chooseMove() を自作。探索・評価関数・強化学習は自由</a:t>
            </a:r>
            <a:endParaRPr lang="en-US" sz="1050" dirty="0"/>
          </a:p>
        </p:txBody>
      </p:sp>
      <p:sp>
        <p:nvSpPr>
          <p:cNvPr id="19" name="Shape 17"/>
          <p:cNvSpPr/>
          <p:nvPr/>
        </p:nvSpPr>
        <p:spPr>
          <a:xfrm>
            <a:off x="6729984" y="1325880"/>
            <a:ext cx="1920240" cy="3154680"/>
          </a:xfrm>
          <a:prstGeom prst="roundRect">
            <a:avLst>
              <a:gd name="adj" fmla="val 3810"/>
            </a:avLst>
          </a:prstGeom>
          <a:solidFill>
            <a:srgbClr val="FFFFFF"/>
          </a:solidFill>
          <a:ln/>
          <a:effectLst>
            <a:outerShdw sx="100000" sy="100000" kx="0" ky="0" algn="bl" rotWithShape="0" blurRad="63500" dist="25400" dir="8100000">
              <a:srgbClr val="9A8F84">
                <a:alpha val="25000"/>
              </a:srgbClr>
            </a:outerShdw>
          </a:effectLst>
        </p:spPr>
      </p:sp>
      <p:sp>
        <p:nvSpPr>
          <p:cNvPr id="20" name="Shape 18"/>
          <p:cNvSpPr/>
          <p:nvPr/>
        </p:nvSpPr>
        <p:spPr>
          <a:xfrm>
            <a:off x="7278624" y="1645920"/>
            <a:ext cx="822960" cy="822960"/>
          </a:xfrm>
          <a:prstGeom prst="roundRect">
            <a:avLst>
              <a:gd name="adj" fmla="val 6667"/>
            </a:avLst>
          </a:prstGeom>
          <a:solidFill>
            <a:srgbClr val="F65E3B"/>
          </a:solidFill>
          <a:ln/>
          <a:effectLst>
            <a:outerShdw sx="100000" sy="100000" kx="0" ky="0" algn="bl" rotWithShape="0" blurRad="50800" dist="25400" dir="8100000">
              <a:srgbClr val="9A8F84">
                <a:alpha val="30000"/>
              </a:srgbClr>
            </a:outerShdw>
          </a:effectLst>
        </p:spPr>
      </p:sp>
      <p:sp>
        <p:nvSpPr>
          <p:cNvPr id="21" name="Text 19"/>
          <p:cNvSpPr/>
          <p:nvPr/>
        </p:nvSpPr>
        <p:spPr>
          <a:xfrm>
            <a:off x="7278624" y="1627632"/>
            <a:ext cx="822960" cy="822960"/>
          </a:xfrm>
          <a:prstGeom prst="rect">
            <a:avLst/>
          </a:prstGeom>
          <a:noFill/>
          <a:ln/>
        </p:spPr>
        <p:txBody>
          <a:bodyPr wrap="square" lIns="0" tIns="0" rIns="0" bIns="0" rtlCol="0" anchor="ctr"/>
          <a:lstStyle/>
          <a:p>
            <a:pPr algn="ctr" indent="0" marL="0">
              <a:buNone/>
            </a:pPr>
            <a:r>
              <a:rPr lang="en-US" sz="3000" b="1" dirty="0">
                <a:solidFill>
                  <a:srgbClr val="F9F6F2"/>
                </a:solidFill>
                <a:latin typeface="Trebuchet MS" pitchFamily="34" charset="0"/>
                <a:ea typeface="Trebuchet MS" pitchFamily="34" charset="-122"/>
                <a:cs typeface="Trebuchet MS" pitchFamily="34" charset="-120"/>
              </a:rPr>
              <a:t>16</a:t>
            </a:r>
            <a:endParaRPr lang="en-US" sz="3000" dirty="0"/>
          </a:p>
        </p:txBody>
      </p:sp>
      <p:sp>
        <p:nvSpPr>
          <p:cNvPr id="22" name="Text 20"/>
          <p:cNvSpPr/>
          <p:nvPr/>
        </p:nvSpPr>
        <p:spPr>
          <a:xfrm>
            <a:off x="6821424" y="2670048"/>
            <a:ext cx="1737360" cy="320040"/>
          </a:xfrm>
          <a:prstGeom prst="rect">
            <a:avLst/>
          </a:prstGeom>
          <a:noFill/>
          <a:ln/>
        </p:spPr>
        <p:txBody>
          <a:bodyPr wrap="square" lIns="0" tIns="0" rIns="0" bIns="0" rtlCol="0" anchor="ctr"/>
          <a:lstStyle/>
          <a:p>
            <a:pPr algn="ctr" indent="0" marL="0">
              <a:buNone/>
            </a:pPr>
            <a:r>
              <a:rPr lang="en-US" sz="1450" b="1" dirty="0">
                <a:solidFill>
                  <a:srgbClr val="776E65"/>
                </a:solidFill>
                <a:latin typeface="Yu Gothic" pitchFamily="34" charset="0"/>
                <a:ea typeface="Yu Gothic" pitchFamily="34" charset="-122"/>
                <a:cs typeface="Yu Gothic" pitchFamily="34" charset="-120"/>
              </a:rPr>
              <a:t>自己改善</a:t>
            </a:r>
            <a:endParaRPr lang="en-US" sz="1450" dirty="0"/>
          </a:p>
        </p:txBody>
      </p:sp>
      <p:sp>
        <p:nvSpPr>
          <p:cNvPr id="23" name="Text 21"/>
          <p:cNvSpPr/>
          <p:nvPr/>
        </p:nvSpPr>
        <p:spPr>
          <a:xfrm>
            <a:off x="6912864" y="3054096"/>
            <a:ext cx="1554480" cy="1234440"/>
          </a:xfrm>
          <a:prstGeom prst="rect">
            <a:avLst/>
          </a:prstGeom>
          <a:noFill/>
          <a:ln/>
        </p:spPr>
        <p:txBody>
          <a:bodyPr wrap="square" lIns="0" tIns="0" rIns="0" bIns="0" rtlCol="0" anchor="ctr"/>
          <a:lstStyle/>
          <a:p>
            <a:pPr algn="l" indent="0" marL="0">
              <a:buNone/>
            </a:pPr>
            <a:r>
              <a:rPr lang="en-US" sz="1050" dirty="0">
                <a:solidFill>
                  <a:srgbClr val="776E65"/>
                </a:solidFill>
                <a:latin typeface="Yu Gothic" pitchFamily="34" charset="0"/>
                <a:ea typeface="Yu Gothic" pitchFamily="34" charset="-122"/>
                <a:cs typeface="Yu Gothic" pitchFamily="34" charset="-120"/>
              </a:rPr>
              <a:t>評価結果を読み、自分のコードを書き直して再挑戦する</a:t>
            </a:r>
            <a:endParaRPr lang="en-US" sz="1050" dirty="0"/>
          </a:p>
        </p:txBody>
      </p:sp>
      <p:sp>
        <p:nvSpPr>
          <p:cNvPr id="24" name="Text 22"/>
          <p:cNvSpPr/>
          <p:nvPr/>
        </p:nvSpPr>
        <p:spPr>
          <a:xfrm>
            <a:off x="457200" y="4850892"/>
            <a:ext cx="8229600" cy="228600"/>
          </a:xfrm>
          <a:prstGeom prst="rect">
            <a:avLst/>
          </a:prstGeom>
          <a:noFill/>
          <a:ln/>
        </p:spPr>
        <p:txBody>
          <a:bodyPr wrap="square" lIns="0" tIns="0" rIns="0" bIns="0" rtlCol="0" anchor="ctr"/>
          <a:lstStyle/>
          <a:p>
            <a:pPr algn="r" indent="0" marL="0">
              <a:buNone/>
            </a:pPr>
            <a:r>
              <a:rPr lang="en-US" sz="900" dirty="0">
                <a:solidFill>
                  <a:srgbClr val="9A8F84"/>
                </a:solidFill>
                <a:latin typeface="Yu Gothic" pitchFamily="34" charset="0"/>
                <a:ea typeface="Yu Gothic" pitchFamily="34" charset="-122"/>
                <a:cs typeface="Yu Gothic" pitchFamily="34" charset="-120"/>
              </a:rPr>
              <a:t>2048 AI Benchmark Platform — lutelute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EF"/>
        </a:solidFill>
      </p:bgPr>
    </p:bg>
    <p:spTree>
      <p:nvGrpSpPr>
        <p:cNvPr id="1" name=""/>
        <p:cNvGrpSpPr/>
        <p:nvPr/>
      </p:nvGrpSpPr>
      <p:grpSpPr>
        <a:xfrm>
          <a:off x="0" y="0"/>
          <a:ext cx="0" cy="0"/>
          <a:chOff x="0" y="0"/>
          <a:chExt cx="0" cy="0"/>
        </a:xfrm>
      </p:grpSpPr>
      <p:sp>
        <p:nvSpPr>
          <p:cNvPr id="2" name="Text 0"/>
          <p:cNvSpPr/>
          <p:nvPr/>
        </p:nvSpPr>
        <p:spPr>
          <a:xfrm>
            <a:off x="502920" y="292608"/>
            <a:ext cx="8138160" cy="502920"/>
          </a:xfrm>
          <a:prstGeom prst="rect">
            <a:avLst/>
          </a:prstGeom>
          <a:noFill/>
          <a:ln/>
        </p:spPr>
        <p:txBody>
          <a:bodyPr wrap="square" lIns="0" tIns="0" rIns="0" bIns="0" rtlCol="0" anchor="ctr"/>
          <a:lstStyle/>
          <a:p>
            <a:pPr indent="0" marL="0">
              <a:buNone/>
            </a:pPr>
            <a:r>
              <a:rPr lang="en-US" sz="2600" b="1" dirty="0">
                <a:solidFill>
                  <a:srgbClr val="776E65"/>
                </a:solidFill>
                <a:latin typeface="Yu Gothic" pitchFamily="34" charset="0"/>
                <a:ea typeface="Yu Gothic" pitchFamily="34" charset="-122"/>
                <a:cs typeface="Yu Gothic" pitchFamily="34" charset="-120"/>
              </a:rPr>
              <a:t>3層アーキテクチャ — ポート番号がそのまま難易度層</a:t>
            </a:r>
            <a:endParaRPr lang="en-US" sz="2600" dirty="0"/>
          </a:p>
        </p:txBody>
      </p:sp>
      <p:sp>
        <p:nvSpPr>
          <p:cNvPr id="3" name="Text 1"/>
          <p:cNvSpPr/>
          <p:nvPr/>
        </p:nvSpPr>
        <p:spPr>
          <a:xfrm>
            <a:off x="502920" y="786384"/>
            <a:ext cx="8138160" cy="274320"/>
          </a:xfrm>
          <a:prstGeom prst="rect">
            <a:avLst/>
          </a:prstGeom>
          <a:noFill/>
          <a:ln/>
        </p:spPr>
        <p:txBody>
          <a:bodyPr wrap="square" lIns="0" tIns="0" rIns="0" bIns="0" rtlCol="0" anchor="ctr"/>
          <a:lstStyle/>
          <a:p>
            <a:pPr indent="0" marL="0">
              <a:buNone/>
            </a:pPr>
            <a:r>
              <a:rPr lang="en-US" sz="1200" spc="200" kern="0" dirty="0">
                <a:solidFill>
                  <a:srgbClr val="9A8F84"/>
                </a:solidFill>
                <a:latin typeface="Trebuchet MS" pitchFamily="34" charset="0"/>
                <a:ea typeface="Trebuchet MS" pitchFamily="34" charset="-122"/>
                <a:cs typeface="Trebuchet MS" pitchFamily="34" charset="-120"/>
              </a:rPr>
              <a:t>THREE-TIER ARCHITECTURE</a:t>
            </a:r>
            <a:endParaRPr lang="en-US" sz="1200" dirty="0"/>
          </a:p>
        </p:txBody>
      </p:sp>
      <p:sp>
        <p:nvSpPr>
          <p:cNvPr id="4" name="Shape 2"/>
          <p:cNvSpPr/>
          <p:nvPr/>
        </p:nvSpPr>
        <p:spPr>
          <a:xfrm>
            <a:off x="502920" y="1298448"/>
            <a:ext cx="8138160" cy="1042416"/>
          </a:xfrm>
          <a:prstGeom prst="roundRect">
            <a:avLst>
              <a:gd name="adj" fmla="val 6140"/>
            </a:avLst>
          </a:prstGeom>
          <a:solidFill>
            <a:srgbClr val="FFFFFF"/>
          </a:solidFill>
          <a:ln/>
          <a:effectLst>
            <a:outerShdw sx="100000" sy="100000" kx="0" ky="0" algn="bl" rotWithShape="0" blurRad="50800" dist="25400" dir="8100000">
              <a:srgbClr val="9A8F84">
                <a:alpha val="22000"/>
              </a:srgbClr>
            </a:outerShdw>
          </a:effectLst>
        </p:spPr>
      </p:sp>
      <p:sp>
        <p:nvSpPr>
          <p:cNvPr id="5" name="Shape 3"/>
          <p:cNvSpPr/>
          <p:nvPr/>
        </p:nvSpPr>
        <p:spPr>
          <a:xfrm>
            <a:off x="685800" y="1453896"/>
            <a:ext cx="731520" cy="731520"/>
          </a:xfrm>
          <a:prstGeom prst="roundRect">
            <a:avLst>
              <a:gd name="adj" fmla="val 7500"/>
            </a:avLst>
          </a:prstGeom>
          <a:solidFill>
            <a:srgbClr val="F59563"/>
          </a:solidFill>
          <a:ln/>
          <a:effectLst>
            <a:outerShdw sx="100000" sy="100000" kx="0" ky="0" algn="bl" rotWithShape="0" blurRad="50800" dist="25400" dir="8100000">
              <a:srgbClr val="9A8F84">
                <a:alpha val="30000"/>
              </a:srgbClr>
            </a:outerShdw>
          </a:effectLst>
        </p:spPr>
      </p:sp>
      <p:sp>
        <p:nvSpPr>
          <p:cNvPr id="6" name="Text 4"/>
          <p:cNvSpPr/>
          <p:nvPr/>
        </p:nvSpPr>
        <p:spPr>
          <a:xfrm>
            <a:off x="685800" y="1435608"/>
            <a:ext cx="731520" cy="731520"/>
          </a:xfrm>
          <a:prstGeom prst="rect">
            <a:avLst/>
          </a:prstGeom>
          <a:noFill/>
          <a:ln/>
        </p:spPr>
        <p:txBody>
          <a:bodyPr wrap="square" lIns="0" tIns="0" rIns="0" bIns="0" rtlCol="0" anchor="ctr"/>
          <a:lstStyle/>
          <a:p>
            <a:pPr algn="ctr" indent="0" marL="0">
              <a:buNone/>
            </a:pPr>
            <a:r>
              <a:rPr lang="en-US" sz="1600" b="1" dirty="0">
                <a:solidFill>
                  <a:srgbClr val="F9F6F2"/>
                </a:solidFill>
                <a:latin typeface="Trebuchet MS" pitchFamily="34" charset="0"/>
                <a:ea typeface="Trebuchet MS" pitchFamily="34" charset="-122"/>
                <a:cs typeface="Trebuchet MS" pitchFamily="34" charset="-120"/>
              </a:rPr>
              <a:t>4000</a:t>
            </a:r>
            <a:endParaRPr lang="en-US" sz="1600" dirty="0"/>
          </a:p>
        </p:txBody>
      </p:sp>
      <p:sp>
        <p:nvSpPr>
          <p:cNvPr id="7" name="Text 5"/>
          <p:cNvSpPr/>
          <p:nvPr/>
        </p:nvSpPr>
        <p:spPr>
          <a:xfrm>
            <a:off x="1600200" y="1426464"/>
            <a:ext cx="3840480" cy="365760"/>
          </a:xfrm>
          <a:prstGeom prst="rect">
            <a:avLst/>
          </a:prstGeom>
          <a:noFill/>
          <a:ln/>
        </p:spPr>
        <p:txBody>
          <a:bodyPr wrap="square" lIns="0" tIns="0" rIns="0" bIns="0" rtlCol="0" anchor="ctr"/>
          <a:lstStyle/>
          <a:p>
            <a:pPr indent="0" marL="0">
              <a:buNone/>
            </a:pPr>
            <a:r>
              <a:rPr lang="en-US" sz="1600" b="1" dirty="0">
                <a:solidFill>
                  <a:srgbClr val="776E65"/>
                </a:solidFill>
                <a:latin typeface="Yu Gothic" pitchFamily="34" charset="0"/>
                <a:ea typeface="Yu Gothic" pitchFamily="34" charset="-122"/>
                <a:cs typeface="Yu Gothic" pitchFamily="34" charset="-120"/>
              </a:rPr>
              <a:t>ブラウザレース</a:t>
            </a:r>
            <a:endParaRPr lang="en-US" sz="1600" dirty="0"/>
          </a:p>
        </p:txBody>
      </p:sp>
      <p:sp>
        <p:nvSpPr>
          <p:cNvPr id="8" name="Text 6"/>
          <p:cNvSpPr/>
          <p:nvPr/>
        </p:nvSpPr>
        <p:spPr>
          <a:xfrm>
            <a:off x="1600200" y="1810512"/>
            <a:ext cx="5486400" cy="475488"/>
          </a:xfrm>
          <a:prstGeom prst="rect">
            <a:avLst/>
          </a:prstGeom>
          <a:noFill/>
          <a:ln/>
        </p:spPr>
        <p:txBody>
          <a:bodyPr wrap="square" lIns="0" tIns="0" rIns="0" bIns="0" rtlCol="0" anchor="ctr"/>
          <a:lstStyle/>
          <a:p>
            <a:pPr indent="0" marL="0">
              <a:buNone/>
            </a:pPr>
            <a:r>
              <a:rPr lang="en-US" sz="1050" dirty="0">
                <a:solidFill>
                  <a:srgbClr val="776E65"/>
                </a:solidFill>
                <a:latin typeface="Yu Gothic" pitchFamily="34" charset="0"/>
                <a:ea typeface="Yu Gothic" pitchFamily="34" charset="-122"/>
                <a:cs typeface="Yu Gothic" pitchFamily="34" charset="-120"/>
              </a:rPr>
              <a:t>React製2048を Playwright で実機操作。4エージェント同時レースをライブ観戦</a:t>
            </a:r>
            <a:endParaRPr lang="en-US" sz="1050" dirty="0"/>
          </a:p>
        </p:txBody>
      </p:sp>
      <p:sp>
        <p:nvSpPr>
          <p:cNvPr id="9" name="Text 7"/>
          <p:cNvSpPr/>
          <p:nvPr/>
        </p:nvSpPr>
        <p:spPr>
          <a:xfrm>
            <a:off x="7223760" y="1426464"/>
            <a:ext cx="1280160" cy="365760"/>
          </a:xfrm>
          <a:prstGeom prst="rect">
            <a:avLst/>
          </a:prstGeom>
          <a:noFill/>
          <a:ln/>
        </p:spPr>
        <p:txBody>
          <a:bodyPr wrap="square" lIns="0" tIns="0" rIns="0" bIns="0" rtlCol="0" anchor="ctr"/>
          <a:lstStyle/>
          <a:p>
            <a:pPr algn="r" indent="0" marL="0">
              <a:buNone/>
            </a:pPr>
            <a:r>
              <a:rPr lang="en-US" sz="1050" b="1" dirty="0">
                <a:solidFill>
                  <a:srgbClr val="D9650F"/>
                </a:solidFill>
                <a:latin typeface="Yu Gothic" pitchFamily="34" charset="0"/>
                <a:ea typeface="Yu Gothic" pitchFamily="34" charset="-122"/>
                <a:cs typeface="Yu Gothic" pitchFamily="34" charset="-120"/>
              </a:rPr>
              <a:t>視覚 + 操作</a:t>
            </a:r>
            <a:endParaRPr lang="en-US" sz="1050" dirty="0"/>
          </a:p>
        </p:txBody>
      </p:sp>
      <p:sp>
        <p:nvSpPr>
          <p:cNvPr id="10" name="Shape 8"/>
          <p:cNvSpPr/>
          <p:nvPr/>
        </p:nvSpPr>
        <p:spPr>
          <a:xfrm>
            <a:off x="502920" y="2496312"/>
            <a:ext cx="8138160" cy="1042416"/>
          </a:xfrm>
          <a:prstGeom prst="roundRect">
            <a:avLst>
              <a:gd name="adj" fmla="val 6140"/>
            </a:avLst>
          </a:prstGeom>
          <a:solidFill>
            <a:srgbClr val="FFFFFF"/>
          </a:solidFill>
          <a:ln/>
          <a:effectLst>
            <a:outerShdw sx="100000" sy="100000" kx="0" ky="0" algn="bl" rotWithShape="0" blurRad="50800" dist="25400" dir="8100000">
              <a:srgbClr val="9A8F84">
                <a:alpha val="22000"/>
              </a:srgbClr>
            </a:outerShdw>
          </a:effectLst>
        </p:spPr>
      </p:sp>
      <p:sp>
        <p:nvSpPr>
          <p:cNvPr id="11" name="Shape 9"/>
          <p:cNvSpPr/>
          <p:nvPr/>
        </p:nvSpPr>
        <p:spPr>
          <a:xfrm>
            <a:off x="685800" y="2651760"/>
            <a:ext cx="731520" cy="731520"/>
          </a:xfrm>
          <a:prstGeom prst="roundRect">
            <a:avLst>
              <a:gd name="adj" fmla="val 7500"/>
            </a:avLst>
          </a:prstGeom>
          <a:solidFill>
            <a:srgbClr val="F65E3B"/>
          </a:solidFill>
          <a:ln/>
          <a:effectLst>
            <a:outerShdw sx="100000" sy="100000" kx="0" ky="0" algn="bl" rotWithShape="0" blurRad="50800" dist="25400" dir="8100000">
              <a:srgbClr val="9A8F84">
                <a:alpha val="30000"/>
              </a:srgbClr>
            </a:outerShdw>
          </a:effectLst>
        </p:spPr>
      </p:sp>
      <p:sp>
        <p:nvSpPr>
          <p:cNvPr id="12" name="Text 10"/>
          <p:cNvSpPr/>
          <p:nvPr/>
        </p:nvSpPr>
        <p:spPr>
          <a:xfrm>
            <a:off x="685800" y="2633472"/>
            <a:ext cx="731520" cy="731520"/>
          </a:xfrm>
          <a:prstGeom prst="rect">
            <a:avLst/>
          </a:prstGeom>
          <a:noFill/>
          <a:ln/>
        </p:spPr>
        <p:txBody>
          <a:bodyPr wrap="square" lIns="0" tIns="0" rIns="0" bIns="0" rtlCol="0" anchor="ctr"/>
          <a:lstStyle/>
          <a:p>
            <a:pPr algn="ctr" indent="0" marL="0">
              <a:buNone/>
            </a:pPr>
            <a:r>
              <a:rPr lang="en-US" sz="1600" b="1" dirty="0">
                <a:solidFill>
                  <a:srgbClr val="F9F6F2"/>
                </a:solidFill>
                <a:latin typeface="Trebuchet MS" pitchFamily="34" charset="0"/>
                <a:ea typeface="Trebuchet MS" pitchFamily="34" charset="-122"/>
                <a:cs typeface="Trebuchet MS" pitchFamily="34" charset="-120"/>
              </a:rPr>
              <a:t>5000</a:t>
            </a:r>
            <a:endParaRPr lang="en-US" sz="1600" dirty="0"/>
          </a:p>
        </p:txBody>
      </p:sp>
      <p:sp>
        <p:nvSpPr>
          <p:cNvPr id="13" name="Text 11"/>
          <p:cNvSpPr/>
          <p:nvPr/>
        </p:nvSpPr>
        <p:spPr>
          <a:xfrm>
            <a:off x="1600200" y="2624328"/>
            <a:ext cx="3840480" cy="365760"/>
          </a:xfrm>
          <a:prstGeom prst="rect">
            <a:avLst/>
          </a:prstGeom>
          <a:noFill/>
          <a:ln/>
        </p:spPr>
        <p:txBody>
          <a:bodyPr wrap="square" lIns="0" tIns="0" rIns="0" bIns="0" rtlCol="0" anchor="ctr"/>
          <a:lstStyle/>
          <a:p>
            <a:pPr indent="0" marL="0">
              <a:buNone/>
            </a:pPr>
            <a:r>
              <a:rPr lang="en-US" sz="1600" b="1" dirty="0">
                <a:solidFill>
                  <a:srgbClr val="776E65"/>
                </a:solidFill>
                <a:latin typeface="Yu Gothic" pitchFamily="34" charset="0"/>
                <a:ea typeface="Yu Gothic" pitchFamily="34" charset="-122"/>
                <a:cs typeface="Yu Gothic" pitchFamily="34" charset="-120"/>
              </a:rPr>
              <a:t>ヘッドレスAI評価</a:t>
            </a:r>
            <a:endParaRPr lang="en-US" sz="1600" dirty="0"/>
          </a:p>
        </p:txBody>
      </p:sp>
      <p:sp>
        <p:nvSpPr>
          <p:cNvPr id="14" name="Text 12"/>
          <p:cNvSpPr/>
          <p:nvPr/>
        </p:nvSpPr>
        <p:spPr>
          <a:xfrm>
            <a:off x="1600200" y="3008376"/>
            <a:ext cx="5486400" cy="475488"/>
          </a:xfrm>
          <a:prstGeom prst="rect">
            <a:avLst/>
          </a:prstGeom>
          <a:noFill/>
          <a:ln/>
        </p:spPr>
        <p:txBody>
          <a:bodyPr wrap="square" lIns="0" tIns="0" rIns="0" bIns="0" rtlCol="0" anchor="ctr"/>
          <a:lstStyle/>
          <a:p>
            <a:pPr indent="0" marL="0">
              <a:buNone/>
            </a:pPr>
            <a:r>
              <a:rPr lang="en-US" sz="1050" dirty="0">
                <a:solidFill>
                  <a:srgbClr val="776E65"/>
                </a:solidFill>
                <a:latin typeface="Yu Gothic" pitchFamily="34" charset="0"/>
                <a:ea typeface="Yu Gothic" pitchFamily="34" charset="-122"/>
                <a:cs typeface="Yu Gothic" pitchFamily="34" charset="-120"/>
              </a:rPr>
              <a:t>ブラウザなし・750+ games/sec。5種のアルゴリズムと自作AIを高速計測</a:t>
            </a:r>
            <a:endParaRPr lang="en-US" sz="1050" dirty="0"/>
          </a:p>
        </p:txBody>
      </p:sp>
      <p:sp>
        <p:nvSpPr>
          <p:cNvPr id="15" name="Text 13"/>
          <p:cNvSpPr/>
          <p:nvPr/>
        </p:nvSpPr>
        <p:spPr>
          <a:xfrm>
            <a:off x="7223760" y="2624328"/>
            <a:ext cx="1280160" cy="365760"/>
          </a:xfrm>
          <a:prstGeom prst="rect">
            <a:avLst/>
          </a:prstGeom>
          <a:noFill/>
          <a:ln/>
        </p:spPr>
        <p:txBody>
          <a:bodyPr wrap="square" lIns="0" tIns="0" rIns="0" bIns="0" rtlCol="0" anchor="ctr"/>
          <a:lstStyle/>
          <a:p>
            <a:pPr algn="r" indent="0" marL="0">
              <a:buNone/>
            </a:pPr>
            <a:r>
              <a:rPr lang="en-US" sz="1050" b="1" dirty="0">
                <a:solidFill>
                  <a:srgbClr val="F65E3B"/>
                </a:solidFill>
                <a:latin typeface="Yu Gothic" pitchFamily="34" charset="0"/>
                <a:ea typeface="Yu Gothic" pitchFamily="34" charset="-122"/>
                <a:cs typeface="Yu Gothic" pitchFamily="34" charset="-120"/>
              </a:rPr>
              <a:t>アルゴリズム</a:t>
            </a:r>
            <a:endParaRPr lang="en-US" sz="1050" dirty="0"/>
          </a:p>
        </p:txBody>
      </p:sp>
      <p:sp>
        <p:nvSpPr>
          <p:cNvPr id="16" name="Shape 14"/>
          <p:cNvSpPr/>
          <p:nvPr/>
        </p:nvSpPr>
        <p:spPr>
          <a:xfrm>
            <a:off x="502920" y="3694176"/>
            <a:ext cx="8138160" cy="1042416"/>
          </a:xfrm>
          <a:prstGeom prst="roundRect">
            <a:avLst>
              <a:gd name="adj" fmla="val 6140"/>
            </a:avLst>
          </a:prstGeom>
          <a:solidFill>
            <a:srgbClr val="FFFFFF"/>
          </a:solidFill>
          <a:ln/>
          <a:effectLst>
            <a:outerShdw sx="100000" sy="100000" kx="0" ky="0" algn="bl" rotWithShape="0" blurRad="50800" dist="25400" dir="8100000">
              <a:srgbClr val="9A8F84">
                <a:alpha val="22000"/>
              </a:srgbClr>
            </a:outerShdw>
          </a:effectLst>
        </p:spPr>
      </p:sp>
      <p:sp>
        <p:nvSpPr>
          <p:cNvPr id="17" name="Shape 15"/>
          <p:cNvSpPr/>
          <p:nvPr/>
        </p:nvSpPr>
        <p:spPr>
          <a:xfrm>
            <a:off x="685800" y="3849624"/>
            <a:ext cx="731520" cy="731520"/>
          </a:xfrm>
          <a:prstGeom prst="roundRect">
            <a:avLst>
              <a:gd name="adj" fmla="val 7500"/>
            </a:avLst>
          </a:prstGeom>
          <a:solidFill>
            <a:srgbClr val="EDC22E"/>
          </a:solidFill>
          <a:ln/>
          <a:effectLst>
            <a:outerShdw sx="100000" sy="100000" kx="0" ky="0" algn="bl" rotWithShape="0" blurRad="50800" dist="25400" dir="8100000">
              <a:srgbClr val="9A8F84">
                <a:alpha val="30000"/>
              </a:srgbClr>
            </a:outerShdw>
          </a:effectLst>
        </p:spPr>
      </p:sp>
      <p:sp>
        <p:nvSpPr>
          <p:cNvPr id="18" name="Text 16"/>
          <p:cNvSpPr/>
          <p:nvPr/>
        </p:nvSpPr>
        <p:spPr>
          <a:xfrm>
            <a:off x="685800" y="3831336"/>
            <a:ext cx="731520" cy="731520"/>
          </a:xfrm>
          <a:prstGeom prst="rect">
            <a:avLst/>
          </a:prstGeom>
          <a:noFill/>
          <a:ln/>
        </p:spPr>
        <p:txBody>
          <a:bodyPr wrap="square" lIns="0" tIns="0" rIns="0" bIns="0" rtlCol="0" anchor="ctr"/>
          <a:lstStyle/>
          <a:p>
            <a:pPr algn="ctr" indent="0" marL="0">
              <a:buNone/>
            </a:pPr>
            <a:r>
              <a:rPr lang="en-US" sz="1600" b="1" dirty="0">
                <a:solidFill>
                  <a:srgbClr val="3C3A32"/>
                </a:solidFill>
                <a:latin typeface="Trebuchet MS" pitchFamily="34" charset="0"/>
                <a:ea typeface="Trebuchet MS" pitchFamily="34" charset="-122"/>
                <a:cs typeface="Trebuchet MS" pitchFamily="34" charset="-120"/>
              </a:rPr>
              <a:t>6000</a:t>
            </a:r>
            <a:endParaRPr lang="en-US" sz="1600" dirty="0"/>
          </a:p>
        </p:txBody>
      </p:sp>
      <p:sp>
        <p:nvSpPr>
          <p:cNvPr id="19" name="Text 17"/>
          <p:cNvSpPr/>
          <p:nvPr/>
        </p:nvSpPr>
        <p:spPr>
          <a:xfrm>
            <a:off x="1600200" y="3822192"/>
            <a:ext cx="3840480" cy="365760"/>
          </a:xfrm>
          <a:prstGeom prst="rect">
            <a:avLst/>
          </a:prstGeom>
          <a:noFill/>
          <a:ln/>
        </p:spPr>
        <p:txBody>
          <a:bodyPr wrap="square" lIns="0" tIns="0" rIns="0" bIns="0" rtlCol="0" anchor="ctr"/>
          <a:lstStyle/>
          <a:p>
            <a:pPr indent="0" marL="0">
              <a:buNone/>
            </a:pPr>
            <a:r>
              <a:rPr lang="en-US" sz="1600" b="1" dirty="0">
                <a:solidFill>
                  <a:srgbClr val="776E65"/>
                </a:solidFill>
                <a:latin typeface="Yu Gothic" pitchFamily="34" charset="0"/>
                <a:ea typeface="Yu Gothic" pitchFamily="34" charset="-122"/>
                <a:cs typeface="Yu Gothic" pitchFamily="34" charset="-120"/>
              </a:rPr>
              <a:t>AI自己改善</a:t>
            </a:r>
            <a:endParaRPr lang="en-US" sz="1600" dirty="0"/>
          </a:p>
        </p:txBody>
      </p:sp>
      <p:sp>
        <p:nvSpPr>
          <p:cNvPr id="20" name="Text 18"/>
          <p:cNvSpPr/>
          <p:nvPr/>
        </p:nvSpPr>
        <p:spPr>
          <a:xfrm>
            <a:off x="1600200" y="4206240"/>
            <a:ext cx="5486400" cy="475488"/>
          </a:xfrm>
          <a:prstGeom prst="rect">
            <a:avLst/>
          </a:prstGeom>
          <a:noFill/>
          <a:ln/>
        </p:spPr>
        <p:txBody>
          <a:bodyPr wrap="square" lIns="0" tIns="0" rIns="0" bIns="0" rtlCol="0" anchor="ctr"/>
          <a:lstStyle/>
          <a:p>
            <a:pPr indent="0" marL="0">
              <a:buNone/>
            </a:pPr>
            <a:r>
              <a:rPr lang="en-US" sz="1050" dirty="0">
                <a:solidFill>
                  <a:srgbClr val="776E65"/>
                </a:solidFill>
                <a:latin typeface="Yu Gothic" pitchFamily="34" charset="0"/>
                <a:ea typeface="Yu Gothic" pitchFamily="34" charset="-122"/>
                <a:cs typeface="Yu Gothic" pitchFamily="34" charset="-120"/>
              </a:rPr>
              <a:t>AI CLI (claude / codex / gemini) が my-ai.mjs を自分で書き換えて評価→改善を自走</a:t>
            </a:r>
            <a:endParaRPr lang="en-US" sz="1050" dirty="0"/>
          </a:p>
        </p:txBody>
      </p:sp>
      <p:sp>
        <p:nvSpPr>
          <p:cNvPr id="21" name="Text 19"/>
          <p:cNvSpPr/>
          <p:nvPr/>
        </p:nvSpPr>
        <p:spPr>
          <a:xfrm>
            <a:off x="7223760" y="3822192"/>
            <a:ext cx="1280160" cy="365760"/>
          </a:xfrm>
          <a:prstGeom prst="rect">
            <a:avLst/>
          </a:prstGeom>
          <a:noFill/>
          <a:ln/>
        </p:spPr>
        <p:txBody>
          <a:bodyPr wrap="square" lIns="0" tIns="0" rIns="0" bIns="0" rtlCol="0" anchor="ctr"/>
          <a:lstStyle/>
          <a:p>
            <a:pPr algn="r" indent="0" marL="0">
              <a:buNone/>
            </a:pPr>
            <a:r>
              <a:rPr lang="en-US" sz="1050" b="1" dirty="0">
                <a:solidFill>
                  <a:srgbClr val="B8860B"/>
                </a:solidFill>
                <a:latin typeface="Yu Gothic" pitchFamily="34" charset="0"/>
                <a:ea typeface="Yu Gothic" pitchFamily="34" charset="-122"/>
                <a:cs typeface="Yu Gothic" pitchFamily="34" charset="-120"/>
              </a:rPr>
              <a:t>自己改善</a:t>
            </a:r>
            <a:endParaRPr lang="en-US" sz="1050" dirty="0"/>
          </a:p>
        </p:txBody>
      </p:sp>
      <p:sp>
        <p:nvSpPr>
          <p:cNvPr id="22" name="Text 20"/>
          <p:cNvSpPr/>
          <p:nvPr/>
        </p:nvSpPr>
        <p:spPr>
          <a:xfrm>
            <a:off x="457200" y="4850892"/>
            <a:ext cx="8229600" cy="228600"/>
          </a:xfrm>
          <a:prstGeom prst="rect">
            <a:avLst/>
          </a:prstGeom>
          <a:noFill/>
          <a:ln/>
        </p:spPr>
        <p:txBody>
          <a:bodyPr wrap="square" lIns="0" tIns="0" rIns="0" bIns="0" rtlCol="0" anchor="ctr"/>
          <a:lstStyle/>
          <a:p>
            <a:pPr algn="r" indent="0" marL="0">
              <a:buNone/>
            </a:pPr>
            <a:r>
              <a:rPr lang="en-US" sz="900" dirty="0">
                <a:solidFill>
                  <a:srgbClr val="9A8F84"/>
                </a:solidFill>
                <a:latin typeface="Yu Gothic" pitchFamily="34" charset="0"/>
                <a:ea typeface="Yu Gothic" pitchFamily="34" charset="-122"/>
                <a:cs typeface="Yu Gothic" pitchFamily="34" charset="-120"/>
              </a:rPr>
              <a:t>2048 AI Benchmark Platform — lutelute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EF"/>
        </a:solidFill>
      </p:bgPr>
    </p:bg>
    <p:spTree>
      <p:nvGrpSpPr>
        <p:cNvPr id="1" name=""/>
        <p:cNvGrpSpPr/>
        <p:nvPr/>
      </p:nvGrpSpPr>
      <p:grpSpPr>
        <a:xfrm>
          <a:off x="0" y="0"/>
          <a:ext cx="0" cy="0"/>
          <a:chOff x="0" y="0"/>
          <a:chExt cx="0" cy="0"/>
        </a:xfrm>
      </p:grpSpPr>
      <p:sp>
        <p:nvSpPr>
          <p:cNvPr id="2" name="Text 0"/>
          <p:cNvSpPr/>
          <p:nvPr/>
        </p:nvSpPr>
        <p:spPr>
          <a:xfrm>
            <a:off x="502920" y="292608"/>
            <a:ext cx="8138160" cy="502920"/>
          </a:xfrm>
          <a:prstGeom prst="rect">
            <a:avLst/>
          </a:prstGeom>
          <a:noFill/>
          <a:ln/>
        </p:spPr>
        <p:txBody>
          <a:bodyPr wrap="square" lIns="0" tIns="0" rIns="0" bIns="0" rtlCol="0" anchor="ctr"/>
          <a:lstStyle/>
          <a:p>
            <a:pPr indent="0" marL="0">
              <a:buNone/>
            </a:pPr>
            <a:r>
              <a:rPr lang="en-US" sz="2600" b="1" dirty="0">
                <a:solidFill>
                  <a:srgbClr val="776E65"/>
                </a:solidFill>
                <a:latin typeface="Yu Gothic" pitchFamily="34" charset="0"/>
                <a:ea typeface="Yu Gothic" pitchFamily="34" charset="-122"/>
                <a:cs typeface="Yu Gothic" pitchFamily="34" charset="-120"/>
              </a:rPr>
              <a:t>4000番台 — ブラウザレース (見て楽しい層)</a:t>
            </a:r>
            <a:endParaRPr lang="en-US" sz="2600" dirty="0"/>
          </a:p>
        </p:txBody>
      </p:sp>
      <p:sp>
        <p:nvSpPr>
          <p:cNvPr id="3" name="Text 1"/>
          <p:cNvSpPr/>
          <p:nvPr/>
        </p:nvSpPr>
        <p:spPr>
          <a:xfrm>
            <a:off x="502920" y="786384"/>
            <a:ext cx="8138160" cy="274320"/>
          </a:xfrm>
          <a:prstGeom prst="rect">
            <a:avLst/>
          </a:prstGeom>
          <a:noFill/>
          <a:ln/>
        </p:spPr>
        <p:txBody>
          <a:bodyPr wrap="square" lIns="0" tIns="0" rIns="0" bIns="0" rtlCol="0" anchor="ctr"/>
          <a:lstStyle/>
          <a:p>
            <a:pPr indent="0" marL="0">
              <a:buNone/>
            </a:pPr>
            <a:r>
              <a:rPr lang="en-US" sz="1200" spc="200" kern="0" dirty="0">
                <a:solidFill>
                  <a:srgbClr val="9A8F84"/>
                </a:solidFill>
                <a:latin typeface="Trebuchet MS" pitchFamily="34" charset="0"/>
                <a:ea typeface="Trebuchet MS" pitchFamily="34" charset="-122"/>
                <a:cs typeface="Trebuchet MS" pitchFamily="34" charset="-120"/>
              </a:rPr>
              <a:t>TIER 4000 · BROWSER RACE</a:t>
            </a:r>
            <a:endParaRPr lang="en-US" sz="1200" dirty="0"/>
          </a:p>
        </p:txBody>
      </p:sp>
      <p:pic>
        <p:nvPicPr>
          <p:cNvPr id="4" name="Image 0" descr="/tmp/pptx-build/dash-4000-cropped.png">    </p:cNvPr>
          <p:cNvPicPr>
            <a:picLocks noChangeAspect="1"/>
          </p:cNvPicPr>
          <p:nvPr/>
        </p:nvPicPr>
        <p:blipFill>
          <a:blip r:embed="rId1"/>
          <a:stretch>
            <a:fillRect/>
          </a:stretch>
        </p:blipFill>
        <p:spPr>
          <a:xfrm>
            <a:off x="502920" y="1371600"/>
            <a:ext cx="4343400" cy="3070920"/>
          </a:xfrm>
          <a:prstGeom prst="rect">
            <a:avLst/>
          </a:prstGeom>
        </p:spPr>
      </p:pic>
      <p:sp>
        <p:nvSpPr>
          <p:cNvPr id="5" name="Shape 2"/>
          <p:cNvSpPr/>
          <p:nvPr/>
        </p:nvSpPr>
        <p:spPr>
          <a:xfrm>
            <a:off x="5166360" y="1463040"/>
            <a:ext cx="64008" cy="868680"/>
          </a:xfrm>
          <a:prstGeom prst="rect">
            <a:avLst/>
          </a:prstGeom>
          <a:solidFill>
            <a:srgbClr val="F59563"/>
          </a:solidFill>
          <a:ln/>
        </p:spPr>
      </p:sp>
      <p:sp>
        <p:nvSpPr>
          <p:cNvPr id="6" name="Text 3"/>
          <p:cNvSpPr/>
          <p:nvPr/>
        </p:nvSpPr>
        <p:spPr>
          <a:xfrm>
            <a:off x="5376672" y="1417320"/>
            <a:ext cx="3291840" cy="320040"/>
          </a:xfrm>
          <a:prstGeom prst="rect">
            <a:avLst/>
          </a:prstGeom>
          <a:noFill/>
          <a:ln/>
        </p:spPr>
        <p:txBody>
          <a:bodyPr wrap="square" lIns="0" tIns="0" rIns="0" bIns="0" rtlCol="0" anchor="ctr"/>
          <a:lstStyle/>
          <a:p>
            <a:pPr indent="0" marL="0">
              <a:buNone/>
            </a:pPr>
            <a:r>
              <a:rPr lang="en-US" sz="1300" b="1" dirty="0">
                <a:solidFill>
                  <a:srgbClr val="776E65"/>
                </a:solidFill>
                <a:latin typeface="Yu Gothic" pitchFamily="34" charset="0"/>
                <a:ea typeface="Yu Gothic" pitchFamily="34" charset="-122"/>
                <a:cs typeface="Yu Gothic" pitchFamily="34" charset="-120"/>
              </a:rPr>
              <a:t>ワンコマンド起動 (2秒)</a:t>
            </a:r>
            <a:endParaRPr lang="en-US" sz="1300" dirty="0"/>
          </a:p>
        </p:txBody>
      </p:sp>
      <p:sp>
        <p:nvSpPr>
          <p:cNvPr id="7" name="Text 4"/>
          <p:cNvSpPr/>
          <p:nvPr/>
        </p:nvSpPr>
        <p:spPr>
          <a:xfrm>
            <a:off x="5376672" y="1755648"/>
            <a:ext cx="3291840" cy="640080"/>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./benchmark/launch-race.sh 10 だけでビルド→配信→エージェント→観戦画面まで</a:t>
            </a:r>
            <a:endParaRPr lang="en-US" sz="950" dirty="0"/>
          </a:p>
        </p:txBody>
      </p:sp>
      <p:sp>
        <p:nvSpPr>
          <p:cNvPr id="8" name="Shape 5"/>
          <p:cNvSpPr/>
          <p:nvPr/>
        </p:nvSpPr>
        <p:spPr>
          <a:xfrm>
            <a:off x="5166360" y="2560320"/>
            <a:ext cx="64008" cy="868680"/>
          </a:xfrm>
          <a:prstGeom prst="rect">
            <a:avLst/>
          </a:prstGeom>
          <a:solidFill>
            <a:srgbClr val="F59563"/>
          </a:solidFill>
          <a:ln/>
        </p:spPr>
      </p:sp>
      <p:sp>
        <p:nvSpPr>
          <p:cNvPr id="9" name="Text 6"/>
          <p:cNvSpPr/>
          <p:nvPr/>
        </p:nvSpPr>
        <p:spPr>
          <a:xfrm>
            <a:off x="5376672" y="2514600"/>
            <a:ext cx="3291840" cy="320040"/>
          </a:xfrm>
          <a:prstGeom prst="rect">
            <a:avLst/>
          </a:prstGeom>
          <a:noFill/>
          <a:ln/>
        </p:spPr>
        <p:txBody>
          <a:bodyPr wrap="square" lIns="0" tIns="0" rIns="0" bIns="0" rtlCol="0" anchor="ctr"/>
          <a:lstStyle/>
          <a:p>
            <a:pPr indent="0" marL="0">
              <a:buNone/>
            </a:pPr>
            <a:r>
              <a:rPr lang="en-US" sz="1300" b="1" dirty="0">
                <a:solidFill>
                  <a:srgbClr val="776E65"/>
                </a:solidFill>
                <a:latin typeface="Yu Gothic" pitchFamily="34" charset="0"/>
                <a:ea typeface="Yu Gothic" pitchFamily="34" charset="-122"/>
                <a:cs typeface="Yu Gothic" pitchFamily="34" charset="-120"/>
              </a:rPr>
              <a:t>実ブラウザ4枚が自動プレイ</a:t>
            </a:r>
            <a:endParaRPr lang="en-US" sz="1300" dirty="0"/>
          </a:p>
        </p:txBody>
      </p:sp>
      <p:sp>
        <p:nvSpPr>
          <p:cNvPr id="10" name="Text 7"/>
          <p:cNvSpPr/>
          <p:nvPr/>
        </p:nvSpPr>
        <p:spPr>
          <a:xfrm>
            <a:off x="5376672" y="2852928"/>
            <a:ext cx="3291840" cy="640080"/>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スクショを読んでキー操作。順位・学習曲線・盤面をライブ表示</a:t>
            </a:r>
            <a:endParaRPr lang="en-US" sz="950" dirty="0"/>
          </a:p>
        </p:txBody>
      </p:sp>
      <p:sp>
        <p:nvSpPr>
          <p:cNvPr id="11" name="Shape 8"/>
          <p:cNvSpPr/>
          <p:nvPr/>
        </p:nvSpPr>
        <p:spPr>
          <a:xfrm>
            <a:off x="5166360" y="3657600"/>
            <a:ext cx="64008" cy="868680"/>
          </a:xfrm>
          <a:prstGeom prst="rect">
            <a:avLst/>
          </a:prstGeom>
          <a:solidFill>
            <a:srgbClr val="F59563"/>
          </a:solidFill>
          <a:ln/>
        </p:spPr>
      </p:sp>
      <p:sp>
        <p:nvSpPr>
          <p:cNvPr id="12" name="Text 9"/>
          <p:cNvSpPr/>
          <p:nvPr/>
        </p:nvSpPr>
        <p:spPr>
          <a:xfrm>
            <a:off x="5376672" y="3611880"/>
            <a:ext cx="3291840" cy="320040"/>
          </a:xfrm>
          <a:prstGeom prst="rect">
            <a:avLst/>
          </a:prstGeom>
          <a:noFill/>
          <a:ln/>
        </p:spPr>
        <p:txBody>
          <a:bodyPr wrap="square" lIns="0" tIns="0" rIns="0" bIns="0" rtlCol="0" anchor="ctr"/>
          <a:lstStyle/>
          <a:p>
            <a:pPr indent="0" marL="0">
              <a:buNone/>
            </a:pPr>
            <a:r>
              <a:rPr lang="en-US" sz="1300" b="1" dirty="0">
                <a:solidFill>
                  <a:srgbClr val="776E65"/>
                </a:solidFill>
                <a:latin typeface="Yu Gothic" pitchFamily="34" charset="0"/>
                <a:ea typeface="Yu Gothic" pitchFamily="34" charset="-122"/>
                <a:cs typeface="Yu Gothic" pitchFamily="34" charset="-120"/>
              </a:rPr>
              <a:t>どの状態からでも起動</a:t>
            </a:r>
            <a:endParaRPr lang="en-US" sz="1300" dirty="0"/>
          </a:p>
        </p:txBody>
      </p:sp>
      <p:sp>
        <p:nvSpPr>
          <p:cNvPr id="13" name="Text 10"/>
          <p:cNvSpPr/>
          <p:nvPr/>
        </p:nvSpPr>
        <p:spPr>
          <a:xfrm>
            <a:off x="5376672" y="3950208"/>
            <a:ext cx="3291840" cy="640080"/>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残骸・二重起動・ポート占有を自動掃除 (実測2〜6秒で起動)</a:t>
            </a:r>
            <a:endParaRPr lang="en-US" sz="950" dirty="0"/>
          </a:p>
        </p:txBody>
      </p:sp>
      <p:sp>
        <p:nvSpPr>
          <p:cNvPr id="14" name="Text 11"/>
          <p:cNvSpPr/>
          <p:nvPr/>
        </p:nvSpPr>
        <p:spPr>
          <a:xfrm>
            <a:off x="457200" y="4850892"/>
            <a:ext cx="8229600" cy="228600"/>
          </a:xfrm>
          <a:prstGeom prst="rect">
            <a:avLst/>
          </a:prstGeom>
          <a:noFill/>
          <a:ln/>
        </p:spPr>
        <p:txBody>
          <a:bodyPr wrap="square" lIns="0" tIns="0" rIns="0" bIns="0" rtlCol="0" anchor="ctr"/>
          <a:lstStyle/>
          <a:p>
            <a:pPr algn="r" indent="0" marL="0">
              <a:buNone/>
            </a:pPr>
            <a:r>
              <a:rPr lang="en-US" sz="900" dirty="0">
                <a:solidFill>
                  <a:srgbClr val="9A8F84"/>
                </a:solidFill>
                <a:latin typeface="Yu Gothic" pitchFamily="34" charset="0"/>
                <a:ea typeface="Yu Gothic" pitchFamily="34" charset="-122"/>
                <a:cs typeface="Yu Gothic" pitchFamily="34" charset="-120"/>
              </a:rPr>
              <a:t>2048 AI Benchmark Platform — lutelute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EF"/>
        </a:solidFill>
      </p:bgPr>
    </p:bg>
    <p:spTree>
      <p:nvGrpSpPr>
        <p:cNvPr id="1" name=""/>
        <p:cNvGrpSpPr/>
        <p:nvPr/>
      </p:nvGrpSpPr>
      <p:grpSpPr>
        <a:xfrm>
          <a:off x="0" y="0"/>
          <a:ext cx="0" cy="0"/>
          <a:chOff x="0" y="0"/>
          <a:chExt cx="0" cy="0"/>
        </a:xfrm>
      </p:grpSpPr>
      <p:sp>
        <p:nvSpPr>
          <p:cNvPr id="2" name="Text 0"/>
          <p:cNvSpPr/>
          <p:nvPr/>
        </p:nvSpPr>
        <p:spPr>
          <a:xfrm>
            <a:off x="502920" y="292608"/>
            <a:ext cx="8138160" cy="502920"/>
          </a:xfrm>
          <a:prstGeom prst="rect">
            <a:avLst/>
          </a:prstGeom>
          <a:noFill/>
          <a:ln/>
        </p:spPr>
        <p:txBody>
          <a:bodyPr wrap="square" lIns="0" tIns="0" rIns="0" bIns="0" rtlCol="0" anchor="ctr"/>
          <a:lstStyle/>
          <a:p>
            <a:pPr indent="0" marL="0">
              <a:buNone/>
            </a:pPr>
            <a:r>
              <a:rPr lang="en-US" sz="2600" b="1" dirty="0">
                <a:solidFill>
                  <a:srgbClr val="776E65"/>
                </a:solidFill>
                <a:latin typeface="Yu Gothic" pitchFamily="34" charset="0"/>
                <a:ea typeface="Yu Gothic" pitchFamily="34" charset="-122"/>
                <a:cs typeface="Yu Gothic" pitchFamily="34" charset="-120"/>
              </a:rPr>
              <a:t>5000番台 — ヘッドレス評価 (アルゴリズムの層)</a:t>
            </a:r>
            <a:endParaRPr lang="en-US" sz="2600" dirty="0"/>
          </a:p>
        </p:txBody>
      </p:sp>
      <p:sp>
        <p:nvSpPr>
          <p:cNvPr id="3" name="Text 1"/>
          <p:cNvSpPr/>
          <p:nvPr/>
        </p:nvSpPr>
        <p:spPr>
          <a:xfrm>
            <a:off x="502920" y="786384"/>
            <a:ext cx="8138160" cy="274320"/>
          </a:xfrm>
          <a:prstGeom prst="rect">
            <a:avLst/>
          </a:prstGeom>
          <a:noFill/>
          <a:ln/>
        </p:spPr>
        <p:txBody>
          <a:bodyPr wrap="square" lIns="0" tIns="0" rIns="0" bIns="0" rtlCol="0" anchor="ctr"/>
          <a:lstStyle/>
          <a:p>
            <a:pPr indent="0" marL="0">
              <a:buNone/>
            </a:pPr>
            <a:r>
              <a:rPr lang="en-US" sz="1200" spc="200" kern="0" dirty="0">
                <a:solidFill>
                  <a:srgbClr val="9A8F84"/>
                </a:solidFill>
                <a:latin typeface="Trebuchet MS" pitchFamily="34" charset="0"/>
                <a:ea typeface="Trebuchet MS" pitchFamily="34" charset="-122"/>
                <a:cs typeface="Trebuchet MS" pitchFamily="34" charset="-120"/>
              </a:rPr>
              <a:t>TIER 5000 · HEADLESS EVALUATION</a:t>
            </a:r>
            <a:endParaRPr lang="en-US" sz="1200" dirty="0"/>
          </a:p>
        </p:txBody>
      </p:sp>
      <p:graphicFrame>
        <p:nvGraphicFramePr>
          <p:cNvPr id="4" name="Chart 0" descr=""/>
          <p:cNvGraphicFramePr/>
          <p:nvPr/>
        </p:nvGraphicFramePr>
        <p:xfrm>
          <a:off x="502920" y="1325880"/>
          <a:ext cx="521208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325880"/>
            <a:ext cx="2697480" cy="932688"/>
          </a:xfrm>
          <a:prstGeom prst="roundRect">
            <a:avLst>
              <a:gd name="adj" fmla="val 6863"/>
            </a:avLst>
          </a:prstGeom>
          <a:solidFill>
            <a:srgbClr val="FFFFFF"/>
          </a:solidFill>
          <a:ln/>
          <a:effectLst>
            <a:outerShdw sx="100000" sy="100000" kx="0" ky="0" algn="bl" rotWithShape="0" blurRad="50800" dist="25400" dir="8100000">
              <a:srgbClr val="9A8F84">
                <a:alpha val="22000"/>
              </a:srgbClr>
            </a:outerShdw>
          </a:effectLst>
        </p:spPr>
      </p:sp>
      <p:sp>
        <p:nvSpPr>
          <p:cNvPr id="6" name="Text 3"/>
          <p:cNvSpPr/>
          <p:nvPr/>
        </p:nvSpPr>
        <p:spPr>
          <a:xfrm>
            <a:off x="6108192" y="1325880"/>
            <a:ext cx="1143000" cy="932688"/>
          </a:xfrm>
          <a:prstGeom prst="rect">
            <a:avLst/>
          </a:prstGeom>
          <a:noFill/>
          <a:ln/>
        </p:spPr>
        <p:txBody>
          <a:bodyPr wrap="square" lIns="0" tIns="0" rIns="0" bIns="0" rtlCol="0" anchor="ctr"/>
          <a:lstStyle/>
          <a:p>
            <a:pPr indent="0" marL="0">
              <a:buNone/>
            </a:pPr>
            <a:r>
              <a:rPr lang="en-US" sz="2400" b="1" dirty="0">
                <a:solidFill>
                  <a:srgbClr val="F65E3B"/>
                </a:solidFill>
                <a:latin typeface="Trebuchet MS" pitchFamily="34" charset="0"/>
                <a:ea typeface="Trebuchet MS" pitchFamily="34" charset="-122"/>
                <a:cs typeface="Trebuchet MS" pitchFamily="34" charset="-120"/>
              </a:rPr>
              <a:t>750+</a:t>
            </a:r>
            <a:endParaRPr lang="en-US" sz="2400" dirty="0"/>
          </a:p>
        </p:txBody>
      </p:sp>
      <p:sp>
        <p:nvSpPr>
          <p:cNvPr id="7" name="Text 4"/>
          <p:cNvSpPr/>
          <p:nvPr/>
        </p:nvSpPr>
        <p:spPr>
          <a:xfrm>
            <a:off x="7269480" y="1325880"/>
            <a:ext cx="1298448" cy="932688"/>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games/sec のヘッドレス実行</a:t>
            </a:r>
            <a:endParaRPr lang="en-US" sz="950" dirty="0"/>
          </a:p>
        </p:txBody>
      </p:sp>
      <p:sp>
        <p:nvSpPr>
          <p:cNvPr id="8" name="Shape 5"/>
          <p:cNvSpPr/>
          <p:nvPr/>
        </p:nvSpPr>
        <p:spPr>
          <a:xfrm>
            <a:off x="5943600" y="2414016"/>
            <a:ext cx="2697480" cy="932688"/>
          </a:xfrm>
          <a:prstGeom prst="roundRect">
            <a:avLst>
              <a:gd name="adj" fmla="val 6863"/>
            </a:avLst>
          </a:prstGeom>
          <a:solidFill>
            <a:srgbClr val="FFFFFF"/>
          </a:solidFill>
          <a:ln/>
          <a:effectLst>
            <a:outerShdw sx="100000" sy="100000" kx="0" ky="0" algn="bl" rotWithShape="0" blurRad="50800" dist="25400" dir="8100000">
              <a:srgbClr val="9A8F84">
                <a:alpha val="22000"/>
              </a:srgbClr>
            </a:outerShdw>
          </a:effectLst>
        </p:spPr>
      </p:sp>
      <p:sp>
        <p:nvSpPr>
          <p:cNvPr id="9" name="Text 6"/>
          <p:cNvSpPr/>
          <p:nvPr/>
        </p:nvSpPr>
        <p:spPr>
          <a:xfrm>
            <a:off x="6108192" y="2414016"/>
            <a:ext cx="1143000" cy="932688"/>
          </a:xfrm>
          <a:prstGeom prst="rect">
            <a:avLst/>
          </a:prstGeom>
          <a:noFill/>
          <a:ln/>
        </p:spPr>
        <p:txBody>
          <a:bodyPr wrap="square" lIns="0" tIns="0" rIns="0" bIns="0" rtlCol="0" anchor="ctr"/>
          <a:lstStyle/>
          <a:p>
            <a:pPr indent="0" marL="0">
              <a:buNone/>
            </a:pPr>
            <a:r>
              <a:rPr lang="en-US" sz="2400" b="1" dirty="0">
                <a:solidFill>
                  <a:srgbClr val="D9650F"/>
                </a:solidFill>
                <a:latin typeface="Trebuchet MS" pitchFamily="34" charset="0"/>
                <a:ea typeface="Trebuchet MS" pitchFamily="34" charset="-122"/>
                <a:cs typeface="Trebuchet MS" pitchFamily="34" charset="-120"/>
              </a:rPr>
              <a:t>5種</a:t>
            </a:r>
            <a:endParaRPr lang="en-US" sz="2400" dirty="0"/>
          </a:p>
        </p:txBody>
      </p:sp>
      <p:sp>
        <p:nvSpPr>
          <p:cNvPr id="10" name="Text 7"/>
          <p:cNvSpPr/>
          <p:nvPr/>
        </p:nvSpPr>
        <p:spPr>
          <a:xfrm>
            <a:off x="7269480" y="2414016"/>
            <a:ext cx="1298448" cy="932688"/>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アルゴリズム + 自作AI枠</a:t>
            </a:r>
            <a:endParaRPr lang="en-US" sz="950" dirty="0"/>
          </a:p>
        </p:txBody>
      </p:sp>
      <p:sp>
        <p:nvSpPr>
          <p:cNvPr id="11" name="Shape 8"/>
          <p:cNvSpPr/>
          <p:nvPr/>
        </p:nvSpPr>
        <p:spPr>
          <a:xfrm>
            <a:off x="5943600" y="3502152"/>
            <a:ext cx="2697480" cy="932688"/>
          </a:xfrm>
          <a:prstGeom prst="roundRect">
            <a:avLst>
              <a:gd name="adj" fmla="val 6863"/>
            </a:avLst>
          </a:prstGeom>
          <a:solidFill>
            <a:srgbClr val="FFFFFF"/>
          </a:solidFill>
          <a:ln/>
          <a:effectLst>
            <a:outerShdw sx="100000" sy="100000" kx="0" ky="0" algn="bl" rotWithShape="0" blurRad="50800" dist="25400" dir="8100000">
              <a:srgbClr val="9A8F84">
                <a:alpha val="22000"/>
              </a:srgbClr>
            </a:outerShdw>
          </a:effectLst>
        </p:spPr>
      </p:sp>
      <p:sp>
        <p:nvSpPr>
          <p:cNvPr id="12" name="Text 9"/>
          <p:cNvSpPr/>
          <p:nvPr/>
        </p:nvSpPr>
        <p:spPr>
          <a:xfrm>
            <a:off x="6108192" y="3502152"/>
            <a:ext cx="1143000" cy="932688"/>
          </a:xfrm>
          <a:prstGeom prst="rect">
            <a:avLst/>
          </a:prstGeom>
          <a:noFill/>
          <a:ln/>
        </p:spPr>
        <p:txBody>
          <a:bodyPr wrap="square" lIns="0" tIns="0" rIns="0" bIns="0" rtlCol="0" anchor="ctr"/>
          <a:lstStyle/>
          <a:p>
            <a:pPr indent="0" marL="0">
              <a:buNone/>
            </a:pPr>
            <a:r>
              <a:rPr lang="en-US" sz="2400" b="1" dirty="0">
                <a:solidFill>
                  <a:srgbClr val="776E65"/>
                </a:solidFill>
                <a:latin typeface="Trebuchet MS" pitchFamily="34" charset="0"/>
                <a:ea typeface="Trebuchet MS" pitchFamily="34" charset="-122"/>
                <a:cs typeface="Trebuchet MS" pitchFamily="34" charset="-120"/>
              </a:rPr>
              <a:t>SEED</a:t>
            </a:r>
            <a:endParaRPr lang="en-US" sz="2400" dirty="0"/>
          </a:p>
        </p:txBody>
      </p:sp>
      <p:sp>
        <p:nvSpPr>
          <p:cNvPr id="13" name="Text 10"/>
          <p:cNvSpPr/>
          <p:nvPr/>
        </p:nvSpPr>
        <p:spPr>
          <a:xfrm>
            <a:off x="7269480" y="3502152"/>
            <a:ext cx="1298448" cy="932688"/>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タイル出現を固定して再現</a:t>
            </a:r>
            <a:endParaRPr lang="en-US" sz="950" dirty="0"/>
          </a:p>
        </p:txBody>
      </p:sp>
      <p:sp>
        <p:nvSpPr>
          <p:cNvPr id="14" name="Text 11"/>
          <p:cNvSpPr/>
          <p:nvPr/>
        </p:nvSpPr>
        <p:spPr>
          <a:xfrm>
            <a:off x="502920" y="4526280"/>
            <a:ext cx="5212080" cy="274320"/>
          </a:xfrm>
          <a:prstGeom prst="rect">
            <a:avLst/>
          </a:prstGeom>
          <a:noFill/>
          <a:ln/>
        </p:spPr>
        <p:txBody>
          <a:bodyPr wrap="square" lIns="0" tIns="0" rIns="0" bIns="0" rtlCol="0" anchor="ctr"/>
          <a:lstStyle/>
          <a:p>
            <a:pPr indent="0" marL="0">
              <a:buNone/>
            </a:pPr>
            <a:r>
              <a:rPr lang="en-US" sz="900" dirty="0">
                <a:solidFill>
                  <a:srgbClr val="9A8F84"/>
                </a:solidFill>
                <a:latin typeface="Yu Gothic" pitchFamily="34" charset="0"/>
                <a:ea typeface="Yu Gothic" pitchFamily="34" charset="-122"/>
                <a:cs typeface="Yu Gothic" pitchFamily="34" charset="-120"/>
              </a:rPr>
              <a:t>rl は学習済みモデル使用時の値</a:t>
            </a:r>
            <a:endParaRPr lang="en-US" sz="900" dirty="0"/>
          </a:p>
        </p:txBody>
      </p:sp>
      <p:sp>
        <p:nvSpPr>
          <p:cNvPr id="15" name="Text 12"/>
          <p:cNvSpPr/>
          <p:nvPr/>
        </p:nvSpPr>
        <p:spPr>
          <a:xfrm>
            <a:off x="457200" y="4850892"/>
            <a:ext cx="8229600" cy="228600"/>
          </a:xfrm>
          <a:prstGeom prst="rect">
            <a:avLst/>
          </a:prstGeom>
          <a:noFill/>
          <a:ln/>
        </p:spPr>
        <p:txBody>
          <a:bodyPr wrap="square" lIns="0" tIns="0" rIns="0" bIns="0" rtlCol="0" anchor="ctr"/>
          <a:lstStyle/>
          <a:p>
            <a:pPr algn="r" indent="0" marL="0">
              <a:buNone/>
            </a:pPr>
            <a:r>
              <a:rPr lang="en-US" sz="900" dirty="0">
                <a:solidFill>
                  <a:srgbClr val="9A8F84"/>
                </a:solidFill>
                <a:latin typeface="Yu Gothic" pitchFamily="34" charset="0"/>
                <a:ea typeface="Yu Gothic" pitchFamily="34" charset="-122"/>
                <a:cs typeface="Yu Gothic" pitchFamily="34" charset="-120"/>
              </a:rPr>
              <a:t>2048 AI Benchmark Platform — lutelute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EF"/>
        </a:solidFill>
      </p:bgPr>
    </p:bg>
    <p:spTree>
      <p:nvGrpSpPr>
        <p:cNvPr id="1" name=""/>
        <p:cNvGrpSpPr/>
        <p:nvPr/>
      </p:nvGrpSpPr>
      <p:grpSpPr>
        <a:xfrm>
          <a:off x="0" y="0"/>
          <a:ext cx="0" cy="0"/>
          <a:chOff x="0" y="0"/>
          <a:chExt cx="0" cy="0"/>
        </a:xfrm>
      </p:grpSpPr>
      <p:sp>
        <p:nvSpPr>
          <p:cNvPr id="2" name="Text 0"/>
          <p:cNvSpPr/>
          <p:nvPr/>
        </p:nvSpPr>
        <p:spPr>
          <a:xfrm>
            <a:off x="502920" y="292608"/>
            <a:ext cx="8138160" cy="502920"/>
          </a:xfrm>
          <a:prstGeom prst="rect">
            <a:avLst/>
          </a:prstGeom>
          <a:noFill/>
          <a:ln/>
        </p:spPr>
        <p:txBody>
          <a:bodyPr wrap="square" lIns="0" tIns="0" rIns="0" bIns="0" rtlCol="0" anchor="ctr"/>
          <a:lstStyle/>
          <a:p>
            <a:pPr indent="0" marL="0">
              <a:buNone/>
            </a:pPr>
            <a:r>
              <a:rPr lang="en-US" sz="2600" b="1" dirty="0">
                <a:solidFill>
                  <a:srgbClr val="776E65"/>
                </a:solidFill>
                <a:latin typeface="Yu Gothic" pitchFamily="34" charset="0"/>
                <a:ea typeface="Yu Gothic" pitchFamily="34" charset="-122"/>
                <a:cs typeface="Yu Gothic" pitchFamily="34" charset="-120"/>
              </a:rPr>
              <a:t>RL の仕組み — N-tuple Network + Afterstate TD(0)</a:t>
            </a:r>
            <a:endParaRPr lang="en-US" sz="2600" dirty="0"/>
          </a:p>
        </p:txBody>
      </p:sp>
      <p:sp>
        <p:nvSpPr>
          <p:cNvPr id="3" name="Text 1"/>
          <p:cNvSpPr/>
          <p:nvPr/>
        </p:nvSpPr>
        <p:spPr>
          <a:xfrm>
            <a:off x="502920" y="786384"/>
            <a:ext cx="8138160" cy="274320"/>
          </a:xfrm>
          <a:prstGeom prst="rect">
            <a:avLst/>
          </a:prstGeom>
          <a:noFill/>
          <a:ln/>
        </p:spPr>
        <p:txBody>
          <a:bodyPr wrap="square" lIns="0" tIns="0" rIns="0" bIns="0" rtlCol="0" anchor="ctr"/>
          <a:lstStyle/>
          <a:p>
            <a:pPr indent="0" marL="0">
              <a:buNone/>
            </a:pPr>
            <a:r>
              <a:rPr lang="en-US" sz="1200" spc="200" kern="0" dirty="0">
                <a:solidFill>
                  <a:srgbClr val="9A8F84"/>
                </a:solidFill>
                <a:latin typeface="Trebuchet MS" pitchFamily="34" charset="0"/>
                <a:ea typeface="Trebuchet MS" pitchFamily="34" charset="-122"/>
                <a:cs typeface="Trebuchet MS" pitchFamily="34" charset="-120"/>
              </a:rPr>
              <a:t>HOW THE RL AGENT LEARNS</a:t>
            </a:r>
            <a:endParaRPr lang="en-US" sz="1200" dirty="0"/>
          </a:p>
        </p:txBody>
      </p:sp>
      <p:sp>
        <p:nvSpPr>
          <p:cNvPr id="4" name="Shape 2"/>
          <p:cNvSpPr/>
          <p:nvPr/>
        </p:nvSpPr>
        <p:spPr>
          <a:xfrm>
            <a:off x="502920" y="1408176"/>
            <a:ext cx="64008" cy="914400"/>
          </a:xfrm>
          <a:prstGeom prst="rect">
            <a:avLst/>
          </a:prstGeom>
          <a:solidFill>
            <a:srgbClr val="EDC22E"/>
          </a:solidFill>
          <a:ln/>
        </p:spPr>
      </p:sp>
      <p:sp>
        <p:nvSpPr>
          <p:cNvPr id="5" name="Text 3"/>
          <p:cNvSpPr/>
          <p:nvPr/>
        </p:nvSpPr>
        <p:spPr>
          <a:xfrm>
            <a:off x="713232" y="1371600"/>
            <a:ext cx="3749040" cy="310896"/>
          </a:xfrm>
          <a:prstGeom prst="rect">
            <a:avLst/>
          </a:prstGeom>
          <a:noFill/>
          <a:ln/>
        </p:spPr>
        <p:txBody>
          <a:bodyPr wrap="square" lIns="0" tIns="0" rIns="0" bIns="0" rtlCol="0" anchor="ctr"/>
          <a:lstStyle/>
          <a:p>
            <a:pPr indent="0" marL="0">
              <a:buNone/>
            </a:pPr>
            <a:r>
              <a:rPr lang="en-US" sz="1350" b="1" dirty="0">
                <a:solidFill>
                  <a:srgbClr val="776E65"/>
                </a:solidFill>
                <a:latin typeface="Yu Gothic" pitchFamily="34" charset="0"/>
                <a:ea typeface="Yu Gothic" pitchFamily="34" charset="-122"/>
                <a:cs typeface="Yu Gothic" pitchFamily="34" charset="-120"/>
              </a:rPr>
              <a:t>12本の 4-tuple LUT</a:t>
            </a:r>
            <a:endParaRPr lang="en-US" sz="1350" dirty="0"/>
          </a:p>
        </p:txBody>
      </p:sp>
      <p:sp>
        <p:nvSpPr>
          <p:cNvPr id="6" name="Text 4"/>
          <p:cNvSpPr/>
          <p:nvPr/>
        </p:nvSpPr>
        <p:spPr>
          <a:xfrm>
            <a:off x="713232" y="1700784"/>
            <a:ext cx="3749040" cy="621792"/>
          </a:xfrm>
          <a:prstGeom prst="rect">
            <a:avLst/>
          </a:prstGeom>
          <a:noFill/>
          <a:ln/>
        </p:spPr>
        <p:txBody>
          <a:bodyPr wrap="square" lIns="0" tIns="0" rIns="0" bIns="0" rtlCol="0" anchor="ctr"/>
          <a:lstStyle/>
          <a:p>
            <a:pPr indent="0" marL="0">
              <a:buNone/>
            </a:pPr>
            <a:r>
              <a:rPr lang="en-US" sz="1000" dirty="0">
                <a:solidFill>
                  <a:srgbClr val="776E65"/>
                </a:solidFill>
                <a:latin typeface="Yu Gothic" pitchFamily="34" charset="0"/>
                <a:ea typeface="Yu Gothic" pitchFamily="34" charset="-122"/>
                <a:cs typeface="Yu Gothic" pitchFamily="34" charset="-120"/>
              </a:rPr>
              <a:t>行4 + 列4 + 2×2正方形4。各16⁴エントリの表で盤面価値を近似</a:t>
            </a:r>
            <a:endParaRPr lang="en-US" sz="1000" dirty="0"/>
          </a:p>
        </p:txBody>
      </p:sp>
      <p:sp>
        <p:nvSpPr>
          <p:cNvPr id="7" name="Shape 5"/>
          <p:cNvSpPr/>
          <p:nvPr/>
        </p:nvSpPr>
        <p:spPr>
          <a:xfrm>
            <a:off x="502920" y="2523744"/>
            <a:ext cx="64008" cy="914400"/>
          </a:xfrm>
          <a:prstGeom prst="rect">
            <a:avLst/>
          </a:prstGeom>
          <a:solidFill>
            <a:srgbClr val="EDC22E"/>
          </a:solidFill>
          <a:ln/>
        </p:spPr>
      </p:sp>
      <p:sp>
        <p:nvSpPr>
          <p:cNvPr id="8" name="Text 6"/>
          <p:cNvSpPr/>
          <p:nvPr/>
        </p:nvSpPr>
        <p:spPr>
          <a:xfrm>
            <a:off x="713232" y="2487168"/>
            <a:ext cx="3749040" cy="310896"/>
          </a:xfrm>
          <a:prstGeom prst="rect">
            <a:avLst/>
          </a:prstGeom>
          <a:noFill/>
          <a:ln/>
        </p:spPr>
        <p:txBody>
          <a:bodyPr wrap="square" lIns="0" tIns="0" rIns="0" bIns="0" rtlCol="0" anchor="ctr"/>
          <a:lstStyle/>
          <a:p>
            <a:pPr indent="0" marL="0">
              <a:buNone/>
            </a:pPr>
            <a:r>
              <a:rPr lang="en-US" sz="1350" b="1" dirty="0">
                <a:solidFill>
                  <a:srgbClr val="776E65"/>
                </a:solidFill>
                <a:latin typeface="Yu Gothic" pitchFamily="34" charset="0"/>
                <a:ea typeface="Yu Gothic" pitchFamily="34" charset="-122"/>
                <a:cs typeface="Yu Gothic" pitchFamily="34" charset="-120"/>
              </a:rPr>
              <a:t>8対称の重み共有</a:t>
            </a:r>
            <a:endParaRPr lang="en-US" sz="1350" dirty="0"/>
          </a:p>
        </p:txBody>
      </p:sp>
      <p:sp>
        <p:nvSpPr>
          <p:cNvPr id="9" name="Text 7"/>
          <p:cNvSpPr/>
          <p:nvPr/>
        </p:nvSpPr>
        <p:spPr>
          <a:xfrm>
            <a:off x="713232" y="2816352"/>
            <a:ext cx="3749040" cy="621792"/>
          </a:xfrm>
          <a:prstGeom prst="rect">
            <a:avLst/>
          </a:prstGeom>
          <a:noFill/>
          <a:ln/>
        </p:spPr>
        <p:txBody>
          <a:bodyPr wrap="square" lIns="0" tIns="0" rIns="0" bIns="0" rtlCol="0" anchor="ctr"/>
          <a:lstStyle/>
          <a:p>
            <a:pPr indent="0" marL="0">
              <a:buNone/>
            </a:pPr>
            <a:r>
              <a:rPr lang="en-US" sz="1000" dirty="0">
                <a:solidFill>
                  <a:srgbClr val="776E65"/>
                </a:solidFill>
                <a:latin typeface="Yu Gothic" pitchFamily="34" charset="0"/>
                <a:ea typeface="Yu Gothic" pitchFamily="34" charset="-122"/>
                <a:cs typeface="Yu Gothic" pitchFamily="34" charset="-120"/>
              </a:rPr>
              <a:t>回転4 × 反転2 = 二面体群 D4。サンプル効率と汎化が向上</a:t>
            </a:r>
            <a:endParaRPr lang="en-US" sz="1000" dirty="0"/>
          </a:p>
        </p:txBody>
      </p:sp>
      <p:sp>
        <p:nvSpPr>
          <p:cNvPr id="10" name="Shape 8"/>
          <p:cNvSpPr/>
          <p:nvPr/>
        </p:nvSpPr>
        <p:spPr>
          <a:xfrm>
            <a:off x="502920" y="3639312"/>
            <a:ext cx="64008" cy="914400"/>
          </a:xfrm>
          <a:prstGeom prst="rect">
            <a:avLst/>
          </a:prstGeom>
          <a:solidFill>
            <a:srgbClr val="EDC22E"/>
          </a:solidFill>
          <a:ln/>
        </p:spPr>
      </p:sp>
      <p:sp>
        <p:nvSpPr>
          <p:cNvPr id="11" name="Text 9"/>
          <p:cNvSpPr/>
          <p:nvPr/>
        </p:nvSpPr>
        <p:spPr>
          <a:xfrm>
            <a:off x="713232" y="3602736"/>
            <a:ext cx="3749040" cy="310896"/>
          </a:xfrm>
          <a:prstGeom prst="rect">
            <a:avLst/>
          </a:prstGeom>
          <a:noFill/>
          <a:ln/>
        </p:spPr>
        <p:txBody>
          <a:bodyPr wrap="square" lIns="0" tIns="0" rIns="0" bIns="0" rtlCol="0" anchor="ctr"/>
          <a:lstStyle/>
          <a:p>
            <a:pPr indent="0" marL="0">
              <a:buNone/>
            </a:pPr>
            <a:r>
              <a:rPr lang="en-US" sz="1350" b="1" dirty="0">
                <a:solidFill>
                  <a:srgbClr val="776E65"/>
                </a:solidFill>
                <a:latin typeface="Yu Gothic" pitchFamily="34" charset="0"/>
                <a:ea typeface="Yu Gothic" pitchFamily="34" charset="-122"/>
                <a:cs typeface="Yu Gothic" pitchFamily="34" charset="-120"/>
              </a:rPr>
              <a:t>毎手 TD(0) 更新</a:t>
            </a:r>
            <a:endParaRPr lang="en-US" sz="1350" dirty="0"/>
          </a:p>
        </p:txBody>
      </p:sp>
      <p:sp>
        <p:nvSpPr>
          <p:cNvPr id="12" name="Text 10"/>
          <p:cNvSpPr/>
          <p:nvPr/>
        </p:nvSpPr>
        <p:spPr>
          <a:xfrm>
            <a:off x="713232" y="3931920"/>
            <a:ext cx="3749040" cy="621792"/>
          </a:xfrm>
          <a:prstGeom prst="rect">
            <a:avLst/>
          </a:prstGeom>
          <a:noFill/>
          <a:ln/>
        </p:spPr>
        <p:txBody>
          <a:bodyPr wrap="square" lIns="0" tIns="0" rIns="0" bIns="0" rtlCol="0" anchor="ctr"/>
          <a:lstStyle/>
          <a:p>
            <a:pPr indent="0" marL="0">
              <a:buNone/>
            </a:pPr>
            <a:r>
              <a:rPr lang="en-US" sz="1000" dirty="0">
                <a:solidFill>
                  <a:srgbClr val="776E65"/>
                </a:solidFill>
                <a:latin typeface="Yu Gothic" pitchFamily="34" charset="0"/>
                <a:ea typeface="Yu Gothic" pitchFamily="34" charset="-122"/>
                <a:cs typeface="Yu Gothic" pitchFamily="34" charset="-120"/>
              </a:rPr>
              <a:t>V(s′) ← V(s′) + α(r + V(s′ₙₑₓₜ) − V(s′))。プレイ = 学習</a:t>
            </a:r>
            <a:endParaRPr lang="en-US" sz="1000" dirty="0"/>
          </a:p>
        </p:txBody>
      </p:sp>
      <p:sp>
        <p:nvSpPr>
          <p:cNvPr id="13" name="Text 11"/>
          <p:cNvSpPr/>
          <p:nvPr/>
        </p:nvSpPr>
        <p:spPr>
          <a:xfrm>
            <a:off x="4800600" y="1344168"/>
            <a:ext cx="3886200" cy="274320"/>
          </a:xfrm>
          <a:prstGeom prst="rect">
            <a:avLst/>
          </a:prstGeom>
          <a:noFill/>
          <a:ln/>
        </p:spPr>
        <p:txBody>
          <a:bodyPr wrap="square" lIns="0" tIns="0" rIns="0" bIns="0" rtlCol="0" anchor="ctr"/>
          <a:lstStyle/>
          <a:p>
            <a:pPr indent="0" marL="0">
              <a:buNone/>
            </a:pPr>
            <a:r>
              <a:rPr lang="en-US" sz="1150" b="1" dirty="0">
                <a:solidFill>
                  <a:srgbClr val="776E65"/>
                </a:solidFill>
                <a:latin typeface="Yu Gothic" pitchFamily="34" charset="0"/>
                <a:ea typeface="Yu Gothic" pitchFamily="34" charset="-122"/>
                <a:cs typeface="Yu Gothic" pitchFamily="34" charset="-120"/>
              </a:rPr>
              <a:t>実行モード (学習は常時オン — 違いは開始点と保存だけ)</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00600" y="1691640"/>
          <a:ext cx="3886200" cy="914400"/>
        </p:xfrm>
        <a:graphic>
          <a:graphicData uri="http://schemas.openxmlformats.org/drawingml/2006/table">
            <a:tbl>
              <a:tblPr/>
              <a:tblGrid>
                <a:gridCol w="1645920"/>
                <a:gridCol w="1280160"/>
                <a:gridCol w="960120"/>
              </a:tblGrid>
              <a:tr h="438912">
                <a:tc>
                  <a:txBody>
                    <a:bodyPr/>
                    <a:lstStyle/>
                    <a:p>
                      <a:pPr indent="0" marL="0">
                        <a:buNone/>
                      </a:pPr>
                      <a:r>
                        <a:rPr lang="en-US" sz="950" b="1" dirty="0">
                          <a:solidFill>
                            <a:srgbClr val="F9F6F2"/>
                          </a:solidFill>
                          <a:latin typeface="Yu Gothic" pitchFamily="34" charset="0"/>
                          <a:ea typeface="Yu Gothic" pitchFamily="34" charset="-122"/>
                          <a:cs typeface="Yu Gothic" pitchFamily="34" charset="-120"/>
                        </a:rPr>
                        <a:t>モード</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3C3A32"/>
                    </a:solidFill>
                  </a:tcPr>
                </a:tc>
                <a:tc>
                  <a:txBody>
                    <a:bodyPr/>
                    <a:lstStyle/>
                    <a:p>
                      <a:pPr indent="0" marL="0">
                        <a:buNone/>
                      </a:pPr>
                      <a:r>
                        <a:rPr lang="en-US" sz="950" b="1" dirty="0">
                          <a:solidFill>
                            <a:srgbClr val="F9F6F2"/>
                          </a:solidFill>
                          <a:latin typeface="Yu Gothic" pitchFamily="34" charset="0"/>
                          <a:ea typeface="Yu Gothic" pitchFamily="34" charset="-122"/>
                          <a:cs typeface="Yu Gothic" pitchFamily="34" charset="-120"/>
                        </a:rPr>
                        <a:t>開始点</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3C3A32"/>
                    </a:solidFill>
                  </a:tcPr>
                </a:tc>
                <a:tc>
                  <a:txBody>
                    <a:bodyPr/>
                    <a:lstStyle/>
                    <a:p>
                      <a:pPr indent="0" marL="0">
                        <a:buNone/>
                      </a:pPr>
                      <a:r>
                        <a:rPr lang="en-US" sz="950" b="1" dirty="0">
                          <a:solidFill>
                            <a:srgbClr val="F9F6F2"/>
                          </a:solidFill>
                          <a:latin typeface="Yu Gothic" pitchFamily="34" charset="0"/>
                          <a:ea typeface="Yu Gothic" pitchFamily="34" charset="-122"/>
                          <a:cs typeface="Yu Gothic" pitchFamily="34" charset="-120"/>
                        </a:rPr>
                        <a:t>保存</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3C3A32"/>
                    </a:solidFill>
                  </a:tcPr>
                </a:tc>
              </a:tr>
              <a:tr h="438912">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ダッシュボード Run (既定)</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学習済みモデル</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なし (揮発)</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r>
              <a:tr h="438912">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RL_LOAD=0</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ゼロから</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なし</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r>
              <a:tr h="438912">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RL_SAVE=1 RL_LOAD=0</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ゼロから</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c>
                  <a:txBody>
                    <a:bodyPr/>
                    <a:lstStyle/>
                    <a:p>
                      <a:pPr indent="0" marL="0">
                        <a:buNone/>
                      </a:pPr>
                      <a:r>
                        <a:rPr lang="en-US" sz="950" dirty="0">
                          <a:solidFill>
                            <a:srgbClr val="776E65"/>
                          </a:solidFill>
                          <a:latin typeface="Yu Gothic" pitchFamily="34" charset="0"/>
                          <a:ea typeface="Yu Gothic" pitchFamily="34" charset="-122"/>
                          <a:cs typeface="Yu Gothic" pitchFamily="34" charset="-120"/>
                        </a:rPr>
                        <a:t>終了時に保存</a:t>
                      </a:r>
                      <a:endParaRPr lang="en-US" sz="950" dirty="0">
                        <a:latin typeface="Yu Gothic" charset="0"/>
                        <a:ea typeface="Yu Gothic" charset="0"/>
                        <a:cs typeface="Yu Gothic" charset="0"/>
                      </a:endParaRPr>
                    </a:p>
                  </a:txBody>
                  <a:tcPr marL="54864" marR="54864" marT="54864" marB="54864" anchor="ctr">
                    <a:lnL w="6350" cap="flat" cmpd="sng" algn="ctr">
                      <a:solidFill>
                        <a:srgbClr val="E0D6C8"/>
                      </a:solidFill>
                      <a:prstDash val="solid"/>
                      <a:round/>
                      <a:headEnd type="none" w="med" len="med"/>
                      <a:tailEnd type="none" w="med" len="med"/>
                    </a:lnL>
                    <a:lnR w="6350" cap="flat" cmpd="sng" algn="ctr">
                      <a:solidFill>
                        <a:srgbClr val="E0D6C8"/>
                      </a:solidFill>
                      <a:prstDash val="solid"/>
                      <a:round/>
                      <a:headEnd type="none" w="med" len="med"/>
                      <a:tailEnd type="none" w="med" len="med"/>
                    </a:lnR>
                    <a:lnT w="6350" cap="flat" cmpd="sng" algn="ctr">
                      <a:solidFill>
                        <a:srgbClr val="E0D6C8"/>
                      </a:solidFill>
                      <a:prstDash val="solid"/>
                      <a:round/>
                      <a:headEnd type="none" w="med" len="med"/>
                      <a:tailEnd type="none" w="med" len="med"/>
                    </a:lnT>
                    <a:lnB w="6350" cap="flat" cmpd="sng" algn="ctr">
                      <a:solidFill>
                        <a:srgbClr val="E0D6C8"/>
                      </a:solidFill>
                      <a:prstDash val="solid"/>
                      <a:round/>
                      <a:headEnd type="none" w="med" len="med"/>
                      <a:tailEnd type="none" w="med" len="med"/>
                    </a:lnB>
                    <a:solidFill>
                      <a:srgbClr val="FFFFFF"/>
                    </a:solidFill>
                  </a:tcPr>
                </a:tc>
              </a:tr>
            </a:tbl>
          </a:graphicData>
        </a:graphic>
      </p:graphicFrame>
      <p:sp>
        <p:nvSpPr>
          <p:cNvPr id="15" name="Text 12"/>
          <p:cNvSpPr/>
          <p:nvPr/>
        </p:nvSpPr>
        <p:spPr>
          <a:xfrm>
            <a:off x="4800600" y="3794760"/>
            <a:ext cx="3886200" cy="685800"/>
          </a:xfrm>
          <a:prstGeom prst="rect">
            <a:avLst/>
          </a:prstGeom>
          <a:noFill/>
          <a:ln/>
        </p:spPr>
        <p:txBody>
          <a:bodyPr wrap="square" lIns="0" tIns="0" rIns="0" bIns="0" rtlCol="0" anchor="ctr"/>
          <a:lstStyle/>
          <a:p>
            <a:pPr indent="0" marL="0">
              <a:buNone/>
            </a:pPr>
            <a:r>
              <a:rPr lang="en-US" sz="1050" i="1" dirty="0">
                <a:solidFill>
                  <a:srgbClr val="776E65"/>
                </a:solidFill>
                <a:latin typeface="Yu Gothic" pitchFamily="34" charset="0"/>
                <a:ea typeface="Yu Gothic" pitchFamily="34" charset="-122"/>
                <a:cs typeface="Yu Gothic" pitchFamily="34" charset="-120"/>
              </a:rPr>
              <a:t>普段見ている rl は、25万ゲーム分の事前学習を土台に走りながらリアルタイム学習を続けている状態</a:t>
            </a:r>
            <a:endParaRPr lang="en-US" sz="1050" dirty="0"/>
          </a:p>
        </p:txBody>
      </p:sp>
      <p:sp>
        <p:nvSpPr>
          <p:cNvPr id="16" name="Text 13"/>
          <p:cNvSpPr/>
          <p:nvPr/>
        </p:nvSpPr>
        <p:spPr>
          <a:xfrm>
            <a:off x="457200" y="4850892"/>
            <a:ext cx="8229600" cy="228600"/>
          </a:xfrm>
          <a:prstGeom prst="rect">
            <a:avLst/>
          </a:prstGeom>
          <a:noFill/>
          <a:ln/>
        </p:spPr>
        <p:txBody>
          <a:bodyPr wrap="square" lIns="0" tIns="0" rIns="0" bIns="0" rtlCol="0" anchor="ctr"/>
          <a:lstStyle/>
          <a:p>
            <a:pPr algn="r" indent="0" marL="0">
              <a:buNone/>
            </a:pPr>
            <a:r>
              <a:rPr lang="en-US" sz="900" dirty="0">
                <a:solidFill>
                  <a:srgbClr val="9A8F84"/>
                </a:solidFill>
                <a:latin typeface="Yu Gothic" pitchFamily="34" charset="0"/>
                <a:ea typeface="Yu Gothic" pitchFamily="34" charset="-122"/>
                <a:cs typeface="Yu Gothic" pitchFamily="34" charset="-120"/>
              </a:rPr>
              <a:t>2048 AI Benchmark Platform — lutelute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EF"/>
        </a:solidFill>
      </p:bgPr>
    </p:bg>
    <p:spTree>
      <p:nvGrpSpPr>
        <p:cNvPr id="1" name=""/>
        <p:cNvGrpSpPr/>
        <p:nvPr/>
      </p:nvGrpSpPr>
      <p:grpSpPr>
        <a:xfrm>
          <a:off x="0" y="0"/>
          <a:ext cx="0" cy="0"/>
          <a:chOff x="0" y="0"/>
          <a:chExt cx="0" cy="0"/>
        </a:xfrm>
      </p:grpSpPr>
      <p:sp>
        <p:nvSpPr>
          <p:cNvPr id="2" name="Text 0"/>
          <p:cNvSpPr/>
          <p:nvPr/>
        </p:nvSpPr>
        <p:spPr>
          <a:xfrm>
            <a:off x="502920" y="292608"/>
            <a:ext cx="8138160" cy="502920"/>
          </a:xfrm>
          <a:prstGeom prst="rect">
            <a:avLst/>
          </a:prstGeom>
          <a:noFill/>
          <a:ln/>
        </p:spPr>
        <p:txBody>
          <a:bodyPr wrap="square" lIns="0" tIns="0" rIns="0" bIns="0" rtlCol="0" anchor="ctr"/>
          <a:lstStyle/>
          <a:p>
            <a:pPr indent="0" marL="0">
              <a:buNone/>
            </a:pPr>
            <a:r>
              <a:rPr lang="en-US" sz="2600" b="1" dirty="0">
                <a:solidFill>
                  <a:srgbClr val="776E65"/>
                </a:solidFill>
                <a:latin typeface="Yu Gothic" pitchFamily="34" charset="0"/>
                <a:ea typeface="Yu Gothic" pitchFamily="34" charset="-122"/>
                <a:cs typeface="Yu Gothic" pitchFamily="34" charset="-120"/>
              </a:rPr>
              <a:t>学習の実証 — ゼロから1,000ゲーム (所要1.3秒)</a:t>
            </a:r>
            <a:endParaRPr lang="en-US" sz="2600" dirty="0"/>
          </a:p>
        </p:txBody>
      </p:sp>
      <p:sp>
        <p:nvSpPr>
          <p:cNvPr id="3" name="Text 1"/>
          <p:cNvSpPr/>
          <p:nvPr/>
        </p:nvSpPr>
        <p:spPr>
          <a:xfrm>
            <a:off x="502920" y="786384"/>
            <a:ext cx="8138160" cy="274320"/>
          </a:xfrm>
          <a:prstGeom prst="rect">
            <a:avLst/>
          </a:prstGeom>
          <a:noFill/>
          <a:ln/>
        </p:spPr>
        <p:txBody>
          <a:bodyPr wrap="square" lIns="0" tIns="0" rIns="0" bIns="0" rtlCol="0" anchor="ctr"/>
          <a:lstStyle/>
          <a:p>
            <a:pPr indent="0" marL="0">
              <a:buNone/>
            </a:pPr>
            <a:r>
              <a:rPr lang="en-US" sz="1200" spc="200" kern="0" dirty="0">
                <a:solidFill>
                  <a:srgbClr val="9A8F84"/>
                </a:solidFill>
                <a:latin typeface="Trebuchet MS" pitchFamily="34" charset="0"/>
                <a:ea typeface="Trebuchet MS" pitchFamily="34" charset="-122"/>
                <a:cs typeface="Trebuchet MS" pitchFamily="34" charset="-120"/>
              </a:rPr>
              <a:t>LEARNING, MEASURED</a:t>
            </a:r>
            <a:endParaRPr lang="en-US" sz="1200" dirty="0"/>
          </a:p>
        </p:txBody>
      </p:sp>
      <p:graphicFrame>
        <p:nvGraphicFramePr>
          <p:cNvPr id="4" name="Chart 0" descr=""/>
          <p:cNvGraphicFramePr/>
          <p:nvPr/>
        </p:nvGraphicFramePr>
        <p:xfrm>
          <a:off x="502920" y="1325880"/>
          <a:ext cx="5349240" cy="3063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4480560"/>
            <a:ext cx="5349240" cy="274320"/>
          </a:xfrm>
          <a:prstGeom prst="rect">
            <a:avLst/>
          </a:prstGeom>
          <a:noFill/>
          <a:ln/>
        </p:spPr>
        <p:txBody>
          <a:bodyPr wrap="square" lIns="0" tIns="0" rIns="0" bIns="0" rtlCol="0" anchor="ctr"/>
          <a:lstStyle/>
          <a:p>
            <a:pPr indent="0" marL="0">
              <a:buNone/>
            </a:pPr>
            <a:r>
              <a:rPr lang="en-US" sz="900" dirty="0">
                <a:solidFill>
                  <a:srgbClr val="9A8F84"/>
                </a:solidFill>
                <a:latin typeface="Yu Gothic" pitchFamily="34" charset="0"/>
                <a:ea typeface="Yu Gothic" pitchFamily="34" charset="-122"/>
                <a:cs typeface="Yu Gothic" pitchFamily="34" charset="-120"/>
              </a:rPr>
              <a:t>横軸: ゲーム数 (100ゲームごとの平均)</a:t>
            </a:r>
            <a:endParaRPr lang="en-US" sz="900" dirty="0"/>
          </a:p>
        </p:txBody>
      </p:sp>
      <p:sp>
        <p:nvSpPr>
          <p:cNvPr id="6" name="Shape 3"/>
          <p:cNvSpPr/>
          <p:nvPr/>
        </p:nvSpPr>
        <p:spPr>
          <a:xfrm>
            <a:off x="6035040" y="1325880"/>
            <a:ext cx="2606040" cy="932688"/>
          </a:xfrm>
          <a:prstGeom prst="roundRect">
            <a:avLst>
              <a:gd name="adj" fmla="val 6863"/>
            </a:avLst>
          </a:prstGeom>
          <a:solidFill>
            <a:srgbClr val="FFFFFF"/>
          </a:solidFill>
          <a:ln/>
          <a:effectLst>
            <a:outerShdw sx="100000" sy="100000" kx="0" ky="0" algn="bl" rotWithShape="0" blurRad="50800" dist="25400" dir="8100000">
              <a:srgbClr val="9A8F84">
                <a:alpha val="22000"/>
              </a:srgbClr>
            </a:outerShdw>
          </a:effectLst>
        </p:spPr>
      </p:sp>
      <p:sp>
        <p:nvSpPr>
          <p:cNvPr id="7" name="Text 4"/>
          <p:cNvSpPr/>
          <p:nvPr/>
        </p:nvSpPr>
        <p:spPr>
          <a:xfrm>
            <a:off x="6199632" y="1325880"/>
            <a:ext cx="1051560" cy="932688"/>
          </a:xfrm>
          <a:prstGeom prst="rect">
            <a:avLst/>
          </a:prstGeom>
          <a:noFill/>
          <a:ln/>
        </p:spPr>
        <p:txBody>
          <a:bodyPr wrap="square" lIns="0" tIns="0" rIns="0" bIns="0" rtlCol="0" anchor="ctr"/>
          <a:lstStyle/>
          <a:p>
            <a:pPr indent="0" marL="0">
              <a:buNone/>
            </a:pPr>
            <a:r>
              <a:rPr lang="en-US" sz="2400" b="1" dirty="0">
                <a:solidFill>
                  <a:srgbClr val="F65E3B"/>
                </a:solidFill>
                <a:latin typeface="Trebuchet MS" pitchFamily="34" charset="0"/>
                <a:ea typeface="Trebuchet MS" pitchFamily="34" charset="-122"/>
                <a:cs typeface="Trebuchet MS" pitchFamily="34" charset="-120"/>
              </a:rPr>
              <a:t>3.0×</a:t>
            </a:r>
            <a:endParaRPr lang="en-US" sz="2400" dirty="0"/>
          </a:p>
        </p:txBody>
      </p:sp>
      <p:sp>
        <p:nvSpPr>
          <p:cNvPr id="8" name="Text 5"/>
          <p:cNvSpPr/>
          <p:nvPr/>
        </p:nvSpPr>
        <p:spPr>
          <a:xfrm>
            <a:off x="7269480" y="1325880"/>
            <a:ext cx="1298448" cy="932688"/>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平均スコア 2,274 → 6,912</a:t>
            </a:r>
            <a:endParaRPr lang="en-US" sz="950" dirty="0"/>
          </a:p>
        </p:txBody>
      </p:sp>
      <p:sp>
        <p:nvSpPr>
          <p:cNvPr id="9" name="Shape 6"/>
          <p:cNvSpPr/>
          <p:nvPr/>
        </p:nvSpPr>
        <p:spPr>
          <a:xfrm>
            <a:off x="6035040" y="2414016"/>
            <a:ext cx="2606040" cy="932688"/>
          </a:xfrm>
          <a:prstGeom prst="roundRect">
            <a:avLst>
              <a:gd name="adj" fmla="val 6863"/>
            </a:avLst>
          </a:prstGeom>
          <a:solidFill>
            <a:srgbClr val="FFFFFF"/>
          </a:solidFill>
          <a:ln/>
          <a:effectLst>
            <a:outerShdw sx="100000" sy="100000" kx="0" ky="0" algn="bl" rotWithShape="0" blurRad="50800" dist="25400" dir="8100000">
              <a:srgbClr val="9A8F84">
                <a:alpha val="22000"/>
              </a:srgbClr>
            </a:outerShdw>
          </a:effectLst>
        </p:spPr>
      </p:sp>
      <p:sp>
        <p:nvSpPr>
          <p:cNvPr id="10" name="Text 7"/>
          <p:cNvSpPr/>
          <p:nvPr/>
        </p:nvSpPr>
        <p:spPr>
          <a:xfrm>
            <a:off x="6199632" y="2414016"/>
            <a:ext cx="1051560" cy="932688"/>
          </a:xfrm>
          <a:prstGeom prst="rect">
            <a:avLst/>
          </a:prstGeom>
          <a:noFill/>
          <a:ln/>
        </p:spPr>
        <p:txBody>
          <a:bodyPr wrap="square" lIns="0" tIns="0" rIns="0" bIns="0" rtlCol="0" anchor="ctr"/>
          <a:lstStyle/>
          <a:p>
            <a:pPr indent="0" marL="0">
              <a:buNone/>
            </a:pPr>
            <a:r>
              <a:rPr lang="en-US" sz="2400" b="1" dirty="0">
                <a:solidFill>
                  <a:srgbClr val="D9650F"/>
                </a:solidFill>
                <a:latin typeface="Trebuchet MS" pitchFamily="34" charset="0"/>
                <a:ea typeface="Trebuchet MS" pitchFamily="34" charset="-122"/>
                <a:cs typeface="Trebuchet MS" pitchFamily="34" charset="-120"/>
              </a:rPr>
              <a:t>1024</a:t>
            </a:r>
            <a:endParaRPr lang="en-US" sz="2400" dirty="0"/>
          </a:p>
        </p:txBody>
      </p:sp>
      <p:sp>
        <p:nvSpPr>
          <p:cNvPr id="11" name="Text 8"/>
          <p:cNvSpPr/>
          <p:nvPr/>
        </p:nvSpPr>
        <p:spPr>
          <a:xfrm>
            <a:off x="7269480" y="2414016"/>
            <a:ext cx="1298448" cy="932688"/>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最大タイル 512 → 1024 に成長</a:t>
            </a:r>
            <a:endParaRPr lang="en-US" sz="950" dirty="0"/>
          </a:p>
        </p:txBody>
      </p:sp>
      <p:sp>
        <p:nvSpPr>
          <p:cNvPr id="12" name="Shape 9"/>
          <p:cNvSpPr/>
          <p:nvPr/>
        </p:nvSpPr>
        <p:spPr>
          <a:xfrm>
            <a:off x="6035040" y="3502152"/>
            <a:ext cx="2606040" cy="932688"/>
          </a:xfrm>
          <a:prstGeom prst="roundRect">
            <a:avLst>
              <a:gd name="adj" fmla="val 6863"/>
            </a:avLst>
          </a:prstGeom>
          <a:solidFill>
            <a:srgbClr val="FFFFFF"/>
          </a:solidFill>
          <a:ln/>
          <a:effectLst>
            <a:outerShdw sx="100000" sy="100000" kx="0" ky="0" algn="bl" rotWithShape="0" blurRad="50800" dist="25400" dir="8100000">
              <a:srgbClr val="9A8F84">
                <a:alpha val="22000"/>
              </a:srgbClr>
            </a:outerShdw>
          </a:effectLst>
        </p:spPr>
      </p:sp>
      <p:sp>
        <p:nvSpPr>
          <p:cNvPr id="13" name="Text 10"/>
          <p:cNvSpPr/>
          <p:nvPr/>
        </p:nvSpPr>
        <p:spPr>
          <a:xfrm>
            <a:off x="6199632" y="3502152"/>
            <a:ext cx="1051560" cy="932688"/>
          </a:xfrm>
          <a:prstGeom prst="rect">
            <a:avLst/>
          </a:prstGeom>
          <a:noFill/>
          <a:ln/>
        </p:spPr>
        <p:txBody>
          <a:bodyPr wrap="square" lIns="0" tIns="0" rIns="0" bIns="0" rtlCol="0" anchor="ctr"/>
          <a:lstStyle/>
          <a:p>
            <a:pPr indent="0" marL="0">
              <a:buNone/>
            </a:pPr>
            <a:r>
              <a:rPr lang="en-US" sz="2400" b="1" dirty="0">
                <a:solidFill>
                  <a:srgbClr val="B8860B"/>
                </a:solidFill>
                <a:latin typeface="Trebuchet MS" pitchFamily="34" charset="0"/>
                <a:ea typeface="Trebuchet MS" pitchFamily="34" charset="-122"/>
                <a:cs typeface="Trebuchet MS" pitchFamily="34" charset="-120"/>
              </a:rPr>
              <a:t>63%</a:t>
            </a:r>
            <a:endParaRPr lang="en-US" sz="2400" dirty="0"/>
          </a:p>
        </p:txBody>
      </p:sp>
      <p:sp>
        <p:nvSpPr>
          <p:cNvPr id="14" name="Text 11"/>
          <p:cNvSpPr/>
          <p:nvPr/>
        </p:nvSpPr>
        <p:spPr>
          <a:xfrm>
            <a:off x="7269480" y="3502152"/>
            <a:ext cx="1298448" cy="932688"/>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学習済みモデルの勝率 (平均29k)</a:t>
            </a:r>
            <a:endParaRPr lang="en-US" sz="950" dirty="0"/>
          </a:p>
        </p:txBody>
      </p:sp>
      <p:sp>
        <p:nvSpPr>
          <p:cNvPr id="15" name="Text 12"/>
          <p:cNvSpPr/>
          <p:nvPr/>
        </p:nvSpPr>
        <p:spPr>
          <a:xfrm>
            <a:off x="457200" y="4850892"/>
            <a:ext cx="8229600" cy="228600"/>
          </a:xfrm>
          <a:prstGeom prst="rect">
            <a:avLst/>
          </a:prstGeom>
          <a:noFill/>
          <a:ln/>
        </p:spPr>
        <p:txBody>
          <a:bodyPr wrap="square" lIns="0" tIns="0" rIns="0" bIns="0" rtlCol="0" anchor="ctr"/>
          <a:lstStyle/>
          <a:p>
            <a:pPr algn="r" indent="0" marL="0">
              <a:buNone/>
            </a:pPr>
            <a:r>
              <a:rPr lang="en-US" sz="900" dirty="0">
                <a:solidFill>
                  <a:srgbClr val="9A8F84"/>
                </a:solidFill>
                <a:latin typeface="Yu Gothic" pitchFamily="34" charset="0"/>
                <a:ea typeface="Yu Gothic" pitchFamily="34" charset="-122"/>
                <a:cs typeface="Yu Gothic" pitchFamily="34" charset="-120"/>
              </a:rPr>
              <a:t>2048 AI Benchmark Platform — lutelute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EF"/>
        </a:solidFill>
      </p:bgPr>
    </p:bg>
    <p:spTree>
      <p:nvGrpSpPr>
        <p:cNvPr id="1" name=""/>
        <p:cNvGrpSpPr/>
        <p:nvPr/>
      </p:nvGrpSpPr>
      <p:grpSpPr>
        <a:xfrm>
          <a:off x="0" y="0"/>
          <a:ext cx="0" cy="0"/>
          <a:chOff x="0" y="0"/>
          <a:chExt cx="0" cy="0"/>
        </a:xfrm>
      </p:grpSpPr>
      <p:sp>
        <p:nvSpPr>
          <p:cNvPr id="2" name="Text 0"/>
          <p:cNvSpPr/>
          <p:nvPr/>
        </p:nvSpPr>
        <p:spPr>
          <a:xfrm>
            <a:off x="502920" y="292608"/>
            <a:ext cx="8138160" cy="502920"/>
          </a:xfrm>
          <a:prstGeom prst="rect">
            <a:avLst/>
          </a:prstGeom>
          <a:noFill/>
          <a:ln/>
        </p:spPr>
        <p:txBody>
          <a:bodyPr wrap="square" lIns="0" tIns="0" rIns="0" bIns="0" rtlCol="0" anchor="ctr"/>
          <a:lstStyle/>
          <a:p>
            <a:pPr indent="0" marL="0">
              <a:buNone/>
            </a:pPr>
            <a:r>
              <a:rPr lang="en-US" sz="2600" b="1" dirty="0">
                <a:solidFill>
                  <a:srgbClr val="776E65"/>
                </a:solidFill>
                <a:latin typeface="Yu Gothic" pitchFamily="34" charset="0"/>
                <a:ea typeface="Yu Gothic" pitchFamily="34" charset="-122"/>
                <a:cs typeface="Yu Gothic" pitchFamily="34" charset="-120"/>
              </a:rPr>
              <a:t>6000番台 — 自己改善ループ (エージェント役で実演)</a:t>
            </a:r>
            <a:endParaRPr lang="en-US" sz="2600" dirty="0"/>
          </a:p>
        </p:txBody>
      </p:sp>
      <p:sp>
        <p:nvSpPr>
          <p:cNvPr id="3" name="Text 1"/>
          <p:cNvSpPr/>
          <p:nvPr/>
        </p:nvSpPr>
        <p:spPr>
          <a:xfrm>
            <a:off x="502920" y="786384"/>
            <a:ext cx="8138160" cy="274320"/>
          </a:xfrm>
          <a:prstGeom prst="rect">
            <a:avLst/>
          </a:prstGeom>
          <a:noFill/>
          <a:ln/>
        </p:spPr>
        <p:txBody>
          <a:bodyPr wrap="square" lIns="0" tIns="0" rIns="0" bIns="0" rtlCol="0" anchor="ctr"/>
          <a:lstStyle/>
          <a:p>
            <a:pPr indent="0" marL="0">
              <a:buNone/>
            </a:pPr>
            <a:r>
              <a:rPr lang="en-US" sz="1200" spc="200" kern="0" dirty="0">
                <a:solidFill>
                  <a:srgbClr val="9A8F84"/>
                </a:solidFill>
                <a:latin typeface="Trebuchet MS" pitchFamily="34" charset="0"/>
                <a:ea typeface="Trebuchet MS" pitchFamily="34" charset="-122"/>
                <a:cs typeface="Trebuchet MS" pitchFamily="34" charset="-120"/>
              </a:rPr>
              <a:t>TIER 6000 · SELF-IMPROVEMENT</a:t>
            </a:r>
            <a:endParaRPr lang="en-US" sz="1200" dirty="0"/>
          </a:p>
        </p:txBody>
      </p:sp>
      <p:sp>
        <p:nvSpPr>
          <p:cNvPr id="4" name="Shape 2"/>
          <p:cNvSpPr/>
          <p:nvPr/>
        </p:nvSpPr>
        <p:spPr>
          <a:xfrm>
            <a:off x="502920" y="1371600"/>
            <a:ext cx="1842516" cy="566928"/>
          </a:xfrm>
          <a:prstGeom prst="roundRect">
            <a:avLst>
              <a:gd name="adj" fmla="val 12903"/>
            </a:avLst>
          </a:prstGeom>
          <a:solidFill>
            <a:srgbClr val="FFFFFF"/>
          </a:solidFill>
          <a:ln w="9525">
            <a:solidFill>
              <a:srgbClr val="E0D6C8"/>
            </a:solidFill>
            <a:prstDash val="solid"/>
          </a:ln>
        </p:spPr>
      </p:sp>
      <p:sp>
        <p:nvSpPr>
          <p:cNvPr id="5" name="Text 3"/>
          <p:cNvSpPr/>
          <p:nvPr/>
        </p:nvSpPr>
        <p:spPr>
          <a:xfrm>
            <a:off x="502920" y="1362456"/>
            <a:ext cx="1842516" cy="566928"/>
          </a:xfrm>
          <a:prstGeom prst="rect">
            <a:avLst/>
          </a:prstGeom>
          <a:noFill/>
          <a:ln/>
        </p:spPr>
        <p:txBody>
          <a:bodyPr wrap="square" lIns="0" tIns="0" rIns="0" bIns="0" rtlCol="0" anchor="ctr"/>
          <a:lstStyle/>
          <a:p>
            <a:pPr algn="ctr" indent="0" marL="0">
              <a:buNone/>
            </a:pPr>
            <a:r>
              <a:rPr lang="en-US" sz="1100" b="1" dirty="0">
                <a:solidFill>
                  <a:srgbClr val="776E65"/>
                </a:solidFill>
                <a:latin typeface="Yu Gothic" pitchFamily="34" charset="0"/>
                <a:ea typeface="Yu Gothic" pitchFamily="34" charset="-122"/>
                <a:cs typeface="Yu Gothic" pitchFamily="34" charset="-120"/>
              </a:rPr>
              <a:t>コードを書く</a:t>
            </a:r>
            <a:endParaRPr lang="en-US" sz="1100" dirty="0"/>
          </a:p>
        </p:txBody>
      </p:sp>
      <p:sp>
        <p:nvSpPr>
          <p:cNvPr id="6" name="Text 4"/>
          <p:cNvSpPr/>
          <p:nvPr/>
        </p:nvSpPr>
        <p:spPr>
          <a:xfrm>
            <a:off x="2318004" y="1362456"/>
            <a:ext cx="310896" cy="566928"/>
          </a:xfrm>
          <a:prstGeom prst="rect">
            <a:avLst/>
          </a:prstGeom>
          <a:noFill/>
          <a:ln/>
        </p:spPr>
        <p:txBody>
          <a:bodyPr wrap="square" lIns="0" tIns="0" rIns="0" bIns="0" rtlCol="0" anchor="ctr"/>
          <a:lstStyle/>
          <a:p>
            <a:pPr algn="ctr" indent="0" marL="0">
              <a:buNone/>
            </a:pPr>
            <a:r>
              <a:rPr lang="en-US" sz="1600" b="1" dirty="0">
                <a:solidFill>
                  <a:srgbClr val="776E65"/>
                </a:solidFill>
                <a:latin typeface="Trebuchet MS" pitchFamily="34" charset="0"/>
                <a:ea typeface="Trebuchet MS" pitchFamily="34" charset="-122"/>
                <a:cs typeface="Trebuchet MS" pitchFamily="34" charset="-120"/>
              </a:rPr>
              <a:t>→</a:t>
            </a:r>
            <a:endParaRPr lang="en-US" sz="1600" dirty="0"/>
          </a:p>
        </p:txBody>
      </p:sp>
      <p:sp>
        <p:nvSpPr>
          <p:cNvPr id="7" name="Shape 5"/>
          <p:cNvSpPr/>
          <p:nvPr/>
        </p:nvSpPr>
        <p:spPr>
          <a:xfrm>
            <a:off x="2601468" y="1371600"/>
            <a:ext cx="1842516" cy="566928"/>
          </a:xfrm>
          <a:prstGeom prst="roundRect">
            <a:avLst>
              <a:gd name="adj" fmla="val 12903"/>
            </a:avLst>
          </a:prstGeom>
          <a:solidFill>
            <a:srgbClr val="FFFFFF"/>
          </a:solidFill>
          <a:ln w="9525">
            <a:solidFill>
              <a:srgbClr val="E0D6C8"/>
            </a:solidFill>
            <a:prstDash val="solid"/>
          </a:ln>
        </p:spPr>
      </p:sp>
      <p:sp>
        <p:nvSpPr>
          <p:cNvPr id="8" name="Text 6"/>
          <p:cNvSpPr/>
          <p:nvPr/>
        </p:nvSpPr>
        <p:spPr>
          <a:xfrm>
            <a:off x="2601468" y="1362456"/>
            <a:ext cx="1842516" cy="566928"/>
          </a:xfrm>
          <a:prstGeom prst="rect">
            <a:avLst/>
          </a:prstGeom>
          <a:noFill/>
          <a:ln/>
        </p:spPr>
        <p:txBody>
          <a:bodyPr wrap="square" lIns="0" tIns="0" rIns="0" bIns="0" rtlCol="0" anchor="ctr"/>
          <a:lstStyle/>
          <a:p>
            <a:pPr algn="ctr" indent="0" marL="0">
              <a:buNone/>
            </a:pPr>
            <a:r>
              <a:rPr lang="en-US" sz="1100" b="1" dirty="0">
                <a:solidFill>
                  <a:srgbClr val="776E65"/>
                </a:solidFill>
                <a:latin typeface="Yu Gothic" pitchFamily="34" charset="0"/>
                <a:ea typeface="Yu Gothic" pitchFamily="34" charset="-122"/>
                <a:cs typeface="Yu Gothic" pitchFamily="34" charset="-120"/>
              </a:rPr>
              <a:t>evaluate 実行</a:t>
            </a:r>
            <a:endParaRPr lang="en-US" sz="1100" dirty="0"/>
          </a:p>
        </p:txBody>
      </p:sp>
      <p:sp>
        <p:nvSpPr>
          <p:cNvPr id="9" name="Text 7"/>
          <p:cNvSpPr/>
          <p:nvPr/>
        </p:nvSpPr>
        <p:spPr>
          <a:xfrm>
            <a:off x="4416552" y="1362456"/>
            <a:ext cx="310896" cy="566928"/>
          </a:xfrm>
          <a:prstGeom prst="rect">
            <a:avLst/>
          </a:prstGeom>
          <a:noFill/>
          <a:ln/>
        </p:spPr>
        <p:txBody>
          <a:bodyPr wrap="square" lIns="0" tIns="0" rIns="0" bIns="0" rtlCol="0" anchor="ctr"/>
          <a:lstStyle/>
          <a:p>
            <a:pPr algn="ctr" indent="0" marL="0">
              <a:buNone/>
            </a:pPr>
            <a:r>
              <a:rPr lang="en-US" sz="1600" b="1" dirty="0">
                <a:solidFill>
                  <a:srgbClr val="776E65"/>
                </a:solidFill>
                <a:latin typeface="Trebuchet MS" pitchFamily="34" charset="0"/>
                <a:ea typeface="Trebuchet MS" pitchFamily="34" charset="-122"/>
                <a:cs typeface="Trebuchet MS" pitchFamily="34" charset="-120"/>
              </a:rPr>
              <a:t>→</a:t>
            </a:r>
            <a:endParaRPr lang="en-US" sz="1600" dirty="0"/>
          </a:p>
        </p:txBody>
      </p:sp>
      <p:sp>
        <p:nvSpPr>
          <p:cNvPr id="10" name="Shape 8"/>
          <p:cNvSpPr/>
          <p:nvPr/>
        </p:nvSpPr>
        <p:spPr>
          <a:xfrm>
            <a:off x="4700016" y="1371600"/>
            <a:ext cx="1842516" cy="566928"/>
          </a:xfrm>
          <a:prstGeom prst="roundRect">
            <a:avLst>
              <a:gd name="adj" fmla="val 12903"/>
            </a:avLst>
          </a:prstGeom>
          <a:solidFill>
            <a:srgbClr val="FFFFFF"/>
          </a:solidFill>
          <a:ln w="9525">
            <a:solidFill>
              <a:srgbClr val="E0D6C8"/>
            </a:solidFill>
            <a:prstDash val="solid"/>
          </a:ln>
        </p:spPr>
      </p:sp>
      <p:sp>
        <p:nvSpPr>
          <p:cNvPr id="11" name="Text 9"/>
          <p:cNvSpPr/>
          <p:nvPr/>
        </p:nvSpPr>
        <p:spPr>
          <a:xfrm>
            <a:off x="4700016" y="1362456"/>
            <a:ext cx="1842516" cy="566928"/>
          </a:xfrm>
          <a:prstGeom prst="rect">
            <a:avLst/>
          </a:prstGeom>
          <a:noFill/>
          <a:ln/>
        </p:spPr>
        <p:txBody>
          <a:bodyPr wrap="square" lIns="0" tIns="0" rIns="0" bIns="0" rtlCol="0" anchor="ctr"/>
          <a:lstStyle/>
          <a:p>
            <a:pPr algn="ctr" indent="0" marL="0">
              <a:buNone/>
            </a:pPr>
            <a:r>
              <a:rPr lang="en-US" sz="1100" b="1" dirty="0">
                <a:solidFill>
                  <a:srgbClr val="776E65"/>
                </a:solidFill>
                <a:latin typeface="Yu Gothic" pitchFamily="34" charset="0"/>
                <a:ea typeface="Yu Gothic" pitchFamily="34" charset="-122"/>
                <a:cs typeface="Yu Gothic" pitchFamily="34" charset="-120"/>
              </a:rPr>
              <a:t>結果を読む</a:t>
            </a:r>
            <a:endParaRPr lang="en-US" sz="1100" dirty="0"/>
          </a:p>
        </p:txBody>
      </p:sp>
      <p:sp>
        <p:nvSpPr>
          <p:cNvPr id="12" name="Text 10"/>
          <p:cNvSpPr/>
          <p:nvPr/>
        </p:nvSpPr>
        <p:spPr>
          <a:xfrm>
            <a:off x="6515100" y="1362456"/>
            <a:ext cx="310896" cy="566928"/>
          </a:xfrm>
          <a:prstGeom prst="rect">
            <a:avLst/>
          </a:prstGeom>
          <a:noFill/>
          <a:ln/>
        </p:spPr>
        <p:txBody>
          <a:bodyPr wrap="square" lIns="0" tIns="0" rIns="0" bIns="0" rtlCol="0" anchor="ctr"/>
          <a:lstStyle/>
          <a:p>
            <a:pPr algn="ctr" indent="0" marL="0">
              <a:buNone/>
            </a:pPr>
            <a:r>
              <a:rPr lang="en-US" sz="1600" b="1" dirty="0">
                <a:solidFill>
                  <a:srgbClr val="776E65"/>
                </a:solidFill>
                <a:latin typeface="Trebuchet MS" pitchFamily="34" charset="0"/>
                <a:ea typeface="Trebuchet MS" pitchFamily="34" charset="-122"/>
                <a:cs typeface="Trebuchet MS" pitchFamily="34" charset="-120"/>
              </a:rPr>
              <a:t>→</a:t>
            </a:r>
            <a:endParaRPr lang="en-US" sz="1600" dirty="0"/>
          </a:p>
        </p:txBody>
      </p:sp>
      <p:sp>
        <p:nvSpPr>
          <p:cNvPr id="13" name="Shape 11"/>
          <p:cNvSpPr/>
          <p:nvPr/>
        </p:nvSpPr>
        <p:spPr>
          <a:xfrm>
            <a:off x="6798564" y="1371600"/>
            <a:ext cx="1842516" cy="566928"/>
          </a:xfrm>
          <a:prstGeom prst="roundRect">
            <a:avLst>
              <a:gd name="adj" fmla="val 12903"/>
            </a:avLst>
          </a:prstGeom>
          <a:solidFill>
            <a:srgbClr val="EDC22E"/>
          </a:solidFill>
          <a:ln w="9525">
            <a:solidFill>
              <a:srgbClr val="E0D6C8"/>
            </a:solidFill>
            <a:prstDash val="solid"/>
          </a:ln>
        </p:spPr>
      </p:sp>
      <p:sp>
        <p:nvSpPr>
          <p:cNvPr id="14" name="Text 12"/>
          <p:cNvSpPr/>
          <p:nvPr/>
        </p:nvSpPr>
        <p:spPr>
          <a:xfrm>
            <a:off x="6798564" y="1362456"/>
            <a:ext cx="1842516" cy="566928"/>
          </a:xfrm>
          <a:prstGeom prst="rect">
            <a:avLst/>
          </a:prstGeom>
          <a:noFill/>
          <a:ln/>
        </p:spPr>
        <p:txBody>
          <a:bodyPr wrap="square" lIns="0" tIns="0" rIns="0" bIns="0" rtlCol="0" anchor="ctr"/>
          <a:lstStyle/>
          <a:p>
            <a:pPr algn="ctr" indent="0" marL="0">
              <a:buNone/>
            </a:pPr>
            <a:r>
              <a:rPr lang="en-US" sz="1100" b="1" dirty="0">
                <a:solidFill>
                  <a:srgbClr val="3C3A32"/>
                </a:solidFill>
                <a:latin typeface="Yu Gothic" pitchFamily="34" charset="0"/>
                <a:ea typeface="Yu Gothic" pitchFamily="34" charset="-122"/>
                <a:cs typeface="Yu Gothic" pitchFamily="34" charset="-120"/>
              </a:rPr>
              <a:t>改善して再挑戦</a:t>
            </a:r>
            <a:endParaRPr lang="en-US" sz="1100" dirty="0"/>
          </a:p>
        </p:txBody>
      </p:sp>
      <p:graphicFrame>
        <p:nvGraphicFramePr>
          <p:cNvPr id="15" name="Chart 0" descr=""/>
          <p:cNvGraphicFramePr/>
          <p:nvPr/>
        </p:nvGraphicFramePr>
        <p:xfrm>
          <a:off x="502920" y="2240280"/>
          <a:ext cx="5486400" cy="233172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6263640" y="2240280"/>
            <a:ext cx="2377440" cy="2331720"/>
          </a:xfrm>
          <a:prstGeom prst="roundRect">
            <a:avLst>
              <a:gd name="adj" fmla="val 3137"/>
            </a:avLst>
          </a:prstGeom>
          <a:solidFill>
            <a:srgbClr val="3C3A32"/>
          </a:solidFill>
          <a:ln/>
        </p:spPr>
      </p:sp>
      <p:sp>
        <p:nvSpPr>
          <p:cNvPr id="17" name="Text 14"/>
          <p:cNvSpPr/>
          <p:nvPr/>
        </p:nvSpPr>
        <p:spPr>
          <a:xfrm>
            <a:off x="6263640" y="2468880"/>
            <a:ext cx="2377440" cy="868680"/>
          </a:xfrm>
          <a:prstGeom prst="rect">
            <a:avLst/>
          </a:prstGeom>
          <a:noFill/>
          <a:ln/>
        </p:spPr>
        <p:txBody>
          <a:bodyPr wrap="square" lIns="0" tIns="0" rIns="0" bIns="0" rtlCol="0" anchor="ctr"/>
          <a:lstStyle/>
          <a:p>
            <a:pPr algn="ctr" indent="0" marL="0">
              <a:buNone/>
            </a:pPr>
            <a:r>
              <a:rPr lang="en-US" sz="4400" b="1" dirty="0">
                <a:solidFill>
                  <a:srgbClr val="EDC22E"/>
                </a:solidFill>
                <a:latin typeface="Trebuchet MS" pitchFamily="34" charset="0"/>
                <a:ea typeface="Trebuchet MS" pitchFamily="34" charset="-122"/>
                <a:cs typeface="Trebuchet MS" pitchFamily="34" charset="-120"/>
              </a:rPr>
              <a:t>19×</a:t>
            </a:r>
            <a:endParaRPr lang="en-US" sz="4400" dirty="0"/>
          </a:p>
        </p:txBody>
      </p:sp>
      <p:sp>
        <p:nvSpPr>
          <p:cNvPr id="18" name="Text 15"/>
          <p:cNvSpPr/>
          <p:nvPr/>
        </p:nvSpPr>
        <p:spPr>
          <a:xfrm>
            <a:off x="6473952" y="3456432"/>
            <a:ext cx="1956816" cy="960120"/>
          </a:xfrm>
          <a:prstGeom prst="rect">
            <a:avLst/>
          </a:prstGeom>
          <a:noFill/>
          <a:ln/>
        </p:spPr>
        <p:txBody>
          <a:bodyPr wrap="square" lIns="0" tIns="0" rIns="0" bIns="0" rtlCol="0" anchor="ctr"/>
          <a:lstStyle/>
          <a:p>
            <a:pPr algn="l" indent="0" marL="0">
              <a:buNone/>
            </a:pPr>
            <a:r>
              <a:rPr lang="en-US" sz="950" dirty="0">
                <a:solidFill>
                  <a:srgbClr val="EEE4DA"/>
                </a:solidFill>
                <a:latin typeface="Yu Gothic" pitchFamily="34" charset="0"/>
                <a:ea typeface="Yu Gothic" pitchFamily="34" charset="-122"/>
                <a:cs typeface="Yu Gothic" pitchFamily="34" charset="-120"/>
              </a:rPr>
              <a:t>3ステップの自己改善でスコア19倍。run 履歴はダッシュボードに残り、見比べられる</a:t>
            </a:r>
            <a:endParaRPr lang="en-US" sz="950" dirty="0"/>
          </a:p>
        </p:txBody>
      </p:sp>
      <p:sp>
        <p:nvSpPr>
          <p:cNvPr id="19" name="Text 16"/>
          <p:cNvSpPr/>
          <p:nvPr/>
        </p:nvSpPr>
        <p:spPr>
          <a:xfrm>
            <a:off x="457200" y="4850892"/>
            <a:ext cx="8229600" cy="228600"/>
          </a:xfrm>
          <a:prstGeom prst="rect">
            <a:avLst/>
          </a:prstGeom>
          <a:noFill/>
          <a:ln/>
        </p:spPr>
        <p:txBody>
          <a:bodyPr wrap="square" lIns="0" tIns="0" rIns="0" bIns="0" rtlCol="0" anchor="ctr"/>
          <a:lstStyle/>
          <a:p>
            <a:pPr algn="r" indent="0" marL="0">
              <a:buNone/>
            </a:pPr>
            <a:r>
              <a:rPr lang="en-US" sz="900" dirty="0">
                <a:solidFill>
                  <a:srgbClr val="9A8F84"/>
                </a:solidFill>
                <a:latin typeface="Yu Gothic" pitchFamily="34" charset="0"/>
                <a:ea typeface="Yu Gothic" pitchFamily="34" charset="-122"/>
                <a:cs typeface="Yu Gothic" pitchFamily="34" charset="-120"/>
              </a:rPr>
              <a:t>2048 AI Benchmark Platform — lutelute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EF"/>
        </a:solidFill>
      </p:bgPr>
    </p:bg>
    <p:spTree>
      <p:nvGrpSpPr>
        <p:cNvPr id="1" name=""/>
        <p:cNvGrpSpPr/>
        <p:nvPr/>
      </p:nvGrpSpPr>
      <p:grpSpPr>
        <a:xfrm>
          <a:off x="0" y="0"/>
          <a:ext cx="0" cy="0"/>
          <a:chOff x="0" y="0"/>
          <a:chExt cx="0" cy="0"/>
        </a:xfrm>
      </p:grpSpPr>
      <p:sp>
        <p:nvSpPr>
          <p:cNvPr id="2" name="Text 0"/>
          <p:cNvSpPr/>
          <p:nvPr/>
        </p:nvSpPr>
        <p:spPr>
          <a:xfrm>
            <a:off x="502920" y="292608"/>
            <a:ext cx="8138160" cy="502920"/>
          </a:xfrm>
          <a:prstGeom prst="rect">
            <a:avLst/>
          </a:prstGeom>
          <a:noFill/>
          <a:ln/>
        </p:spPr>
        <p:txBody>
          <a:bodyPr wrap="square" lIns="0" tIns="0" rIns="0" bIns="0" rtlCol="0" anchor="ctr"/>
          <a:lstStyle/>
          <a:p>
            <a:pPr indent="0" marL="0">
              <a:buNone/>
            </a:pPr>
            <a:r>
              <a:rPr lang="en-US" sz="2600" b="1" dirty="0">
                <a:solidFill>
                  <a:srgbClr val="776E65"/>
                </a:solidFill>
                <a:latin typeface="Yu Gothic" pitchFamily="34" charset="0"/>
                <a:ea typeface="Yu Gothic" pitchFamily="34" charset="-122"/>
                <a:cs typeface="Yu Gothic" pitchFamily="34" charset="-120"/>
              </a:rPr>
              <a:t>壊れないための仕組み — テスト・CI・再現性</a:t>
            </a:r>
            <a:endParaRPr lang="en-US" sz="2600" dirty="0"/>
          </a:p>
        </p:txBody>
      </p:sp>
      <p:sp>
        <p:nvSpPr>
          <p:cNvPr id="3" name="Text 1"/>
          <p:cNvSpPr/>
          <p:nvPr/>
        </p:nvSpPr>
        <p:spPr>
          <a:xfrm>
            <a:off x="502920" y="786384"/>
            <a:ext cx="8138160" cy="274320"/>
          </a:xfrm>
          <a:prstGeom prst="rect">
            <a:avLst/>
          </a:prstGeom>
          <a:noFill/>
          <a:ln/>
        </p:spPr>
        <p:txBody>
          <a:bodyPr wrap="square" lIns="0" tIns="0" rIns="0" bIns="0" rtlCol="0" anchor="ctr"/>
          <a:lstStyle/>
          <a:p>
            <a:pPr indent="0" marL="0">
              <a:buNone/>
            </a:pPr>
            <a:r>
              <a:rPr lang="en-US" sz="1200" spc="200" kern="0" dirty="0">
                <a:solidFill>
                  <a:srgbClr val="9A8F84"/>
                </a:solidFill>
                <a:latin typeface="Trebuchet MS" pitchFamily="34" charset="0"/>
                <a:ea typeface="Trebuchet MS" pitchFamily="34" charset="-122"/>
                <a:cs typeface="Trebuchet MS" pitchFamily="34" charset="-120"/>
              </a:rPr>
              <a:t>QUALITY &amp; REPRODUCIBILITY</a:t>
            </a:r>
            <a:endParaRPr lang="en-US" sz="1200" dirty="0"/>
          </a:p>
        </p:txBody>
      </p:sp>
      <p:sp>
        <p:nvSpPr>
          <p:cNvPr id="4" name="Shape 2"/>
          <p:cNvSpPr/>
          <p:nvPr/>
        </p:nvSpPr>
        <p:spPr>
          <a:xfrm>
            <a:off x="502920" y="1371600"/>
            <a:ext cx="4041648" cy="1481328"/>
          </a:xfrm>
          <a:prstGeom prst="roundRect">
            <a:avLst>
              <a:gd name="adj" fmla="val 4938"/>
            </a:avLst>
          </a:prstGeom>
          <a:solidFill>
            <a:srgbClr val="FFFFFF"/>
          </a:solidFill>
          <a:ln/>
          <a:effectLst>
            <a:outerShdw sx="100000" sy="100000" kx="0" ky="0" algn="bl" rotWithShape="0" blurRad="50800" dist="25400" dir="8100000">
              <a:srgbClr val="9A8F84">
                <a:alpha val="22000"/>
              </a:srgbClr>
            </a:outerShdw>
          </a:effectLst>
        </p:spPr>
      </p:sp>
      <p:sp>
        <p:nvSpPr>
          <p:cNvPr id="5" name="Text 3"/>
          <p:cNvSpPr/>
          <p:nvPr/>
        </p:nvSpPr>
        <p:spPr>
          <a:xfrm>
            <a:off x="704088" y="1371600"/>
            <a:ext cx="1188720" cy="1481328"/>
          </a:xfrm>
          <a:prstGeom prst="rect">
            <a:avLst/>
          </a:prstGeom>
          <a:noFill/>
          <a:ln/>
        </p:spPr>
        <p:txBody>
          <a:bodyPr wrap="square" lIns="0" tIns="0" rIns="0" bIns="0" rtlCol="0" anchor="ctr"/>
          <a:lstStyle/>
          <a:p>
            <a:pPr indent="0" marL="0">
              <a:buNone/>
            </a:pPr>
            <a:r>
              <a:rPr lang="en-US" sz="2800" b="1" dirty="0">
                <a:solidFill>
                  <a:srgbClr val="F65E3B"/>
                </a:solidFill>
                <a:latin typeface="Trebuchet MS" pitchFamily="34" charset="0"/>
                <a:ea typeface="Trebuchet MS" pitchFamily="34" charset="-122"/>
                <a:cs typeface="Trebuchet MS" pitchFamily="34" charset="-120"/>
              </a:rPr>
              <a:t>67</a:t>
            </a:r>
            <a:endParaRPr lang="en-US" sz="2800" dirty="0"/>
          </a:p>
        </p:txBody>
      </p:sp>
      <p:sp>
        <p:nvSpPr>
          <p:cNvPr id="6" name="Text 4"/>
          <p:cNvSpPr/>
          <p:nvPr/>
        </p:nvSpPr>
        <p:spPr>
          <a:xfrm>
            <a:off x="1947672" y="1572768"/>
            <a:ext cx="2350008" cy="320040"/>
          </a:xfrm>
          <a:prstGeom prst="rect">
            <a:avLst/>
          </a:prstGeom>
          <a:noFill/>
          <a:ln/>
        </p:spPr>
        <p:txBody>
          <a:bodyPr wrap="square" lIns="0" tIns="0" rIns="0" bIns="0" rtlCol="0" anchor="ctr"/>
          <a:lstStyle/>
          <a:p>
            <a:pPr indent="0" marL="0">
              <a:buNone/>
            </a:pPr>
            <a:r>
              <a:rPr lang="en-US" sz="1250" b="1" dirty="0">
                <a:solidFill>
                  <a:srgbClr val="776E65"/>
                </a:solidFill>
                <a:latin typeface="Yu Gothic" pitchFamily="34" charset="0"/>
                <a:ea typeface="Yu Gothic" pitchFamily="34" charset="-122"/>
                <a:cs typeface="Yu Gothic" pitchFamily="34" charset="-120"/>
              </a:rPr>
              <a:t>ユニットテスト</a:t>
            </a:r>
            <a:endParaRPr lang="en-US" sz="1250" dirty="0"/>
          </a:p>
        </p:txBody>
      </p:sp>
      <p:sp>
        <p:nvSpPr>
          <p:cNvPr id="7" name="Text 5"/>
          <p:cNvSpPr/>
          <p:nvPr/>
        </p:nvSpPr>
        <p:spPr>
          <a:xfrm>
            <a:off x="1947672" y="1920240"/>
            <a:ext cx="2350008" cy="868680"/>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エンジン / アルゴリズム / RL対称性 / React版との28パリティ / Run制御</a:t>
            </a:r>
            <a:endParaRPr lang="en-US" sz="950" dirty="0"/>
          </a:p>
        </p:txBody>
      </p:sp>
      <p:sp>
        <p:nvSpPr>
          <p:cNvPr id="8" name="Shape 6"/>
          <p:cNvSpPr/>
          <p:nvPr/>
        </p:nvSpPr>
        <p:spPr>
          <a:xfrm>
            <a:off x="4690872" y="1371600"/>
            <a:ext cx="4041648" cy="1481328"/>
          </a:xfrm>
          <a:prstGeom prst="roundRect">
            <a:avLst>
              <a:gd name="adj" fmla="val 4938"/>
            </a:avLst>
          </a:prstGeom>
          <a:solidFill>
            <a:srgbClr val="FFFFFF"/>
          </a:solidFill>
          <a:ln/>
          <a:effectLst>
            <a:outerShdw sx="100000" sy="100000" kx="0" ky="0" algn="bl" rotWithShape="0" blurRad="50800" dist="25400" dir="8100000">
              <a:srgbClr val="9A8F84">
                <a:alpha val="22000"/>
              </a:srgbClr>
            </a:outerShdw>
          </a:effectLst>
        </p:spPr>
      </p:sp>
      <p:sp>
        <p:nvSpPr>
          <p:cNvPr id="9" name="Text 7"/>
          <p:cNvSpPr/>
          <p:nvPr/>
        </p:nvSpPr>
        <p:spPr>
          <a:xfrm>
            <a:off x="4892040" y="1371600"/>
            <a:ext cx="1188720" cy="1481328"/>
          </a:xfrm>
          <a:prstGeom prst="rect">
            <a:avLst/>
          </a:prstGeom>
          <a:noFill/>
          <a:ln/>
        </p:spPr>
        <p:txBody>
          <a:bodyPr wrap="square" lIns="0" tIns="0" rIns="0" bIns="0" rtlCol="0" anchor="ctr"/>
          <a:lstStyle/>
          <a:p>
            <a:pPr indent="0" marL="0">
              <a:buNone/>
            </a:pPr>
            <a:r>
              <a:rPr lang="en-US" sz="2800" b="1" dirty="0">
                <a:solidFill>
                  <a:srgbClr val="D9650F"/>
                </a:solidFill>
                <a:latin typeface="Trebuchet MS" pitchFamily="34" charset="0"/>
                <a:ea typeface="Trebuchet MS" pitchFamily="34" charset="-122"/>
                <a:cs typeface="Trebuchet MS" pitchFamily="34" charset="-120"/>
              </a:rPr>
              <a:t>38</a:t>
            </a:r>
            <a:endParaRPr lang="en-US" sz="2800" dirty="0"/>
          </a:p>
        </p:txBody>
      </p:sp>
      <p:sp>
        <p:nvSpPr>
          <p:cNvPr id="10" name="Text 8"/>
          <p:cNvSpPr/>
          <p:nvPr/>
        </p:nvSpPr>
        <p:spPr>
          <a:xfrm>
            <a:off x="6135624" y="1572768"/>
            <a:ext cx="2350008" cy="320040"/>
          </a:xfrm>
          <a:prstGeom prst="rect">
            <a:avLst/>
          </a:prstGeom>
          <a:noFill/>
          <a:ln/>
        </p:spPr>
        <p:txBody>
          <a:bodyPr wrap="square" lIns="0" tIns="0" rIns="0" bIns="0" rtlCol="0" anchor="ctr"/>
          <a:lstStyle/>
          <a:p>
            <a:pPr indent="0" marL="0">
              <a:buNone/>
            </a:pPr>
            <a:r>
              <a:rPr lang="en-US" sz="1250" b="1" dirty="0">
                <a:solidFill>
                  <a:srgbClr val="776E65"/>
                </a:solidFill>
                <a:latin typeface="Yu Gothic" pitchFamily="34" charset="0"/>
                <a:ea typeface="Yu Gothic" pitchFamily="34" charset="-122"/>
                <a:cs typeface="Yu Gothic" pitchFamily="34" charset="-120"/>
              </a:rPr>
              <a:t>E2E (実ブラウザ)</a:t>
            </a:r>
            <a:endParaRPr lang="en-US" sz="1250" dirty="0"/>
          </a:p>
        </p:txBody>
      </p:sp>
      <p:sp>
        <p:nvSpPr>
          <p:cNvPr id="11" name="Text 9"/>
          <p:cNvSpPr/>
          <p:nvPr/>
        </p:nvSpPr>
        <p:spPr>
          <a:xfrm>
            <a:off x="6135624" y="1920240"/>
            <a:ext cx="2350008" cy="868680"/>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3層ダッシュボードで15+8+15。実データ描画・ボタン・統一盤面・algo伝播</a:t>
            </a:r>
            <a:endParaRPr lang="en-US" sz="950" dirty="0"/>
          </a:p>
        </p:txBody>
      </p:sp>
      <p:sp>
        <p:nvSpPr>
          <p:cNvPr id="12" name="Shape 10"/>
          <p:cNvSpPr/>
          <p:nvPr/>
        </p:nvSpPr>
        <p:spPr>
          <a:xfrm>
            <a:off x="502920" y="3017520"/>
            <a:ext cx="4041648" cy="1481328"/>
          </a:xfrm>
          <a:prstGeom prst="roundRect">
            <a:avLst>
              <a:gd name="adj" fmla="val 4938"/>
            </a:avLst>
          </a:prstGeom>
          <a:solidFill>
            <a:srgbClr val="FFFFFF"/>
          </a:solidFill>
          <a:ln/>
          <a:effectLst>
            <a:outerShdw sx="100000" sy="100000" kx="0" ky="0" algn="bl" rotWithShape="0" blurRad="50800" dist="25400" dir="8100000">
              <a:srgbClr val="9A8F84">
                <a:alpha val="22000"/>
              </a:srgbClr>
            </a:outerShdw>
          </a:effectLst>
        </p:spPr>
      </p:sp>
      <p:sp>
        <p:nvSpPr>
          <p:cNvPr id="13" name="Text 11"/>
          <p:cNvSpPr/>
          <p:nvPr/>
        </p:nvSpPr>
        <p:spPr>
          <a:xfrm>
            <a:off x="704088" y="3017520"/>
            <a:ext cx="1188720" cy="1481328"/>
          </a:xfrm>
          <a:prstGeom prst="rect">
            <a:avLst/>
          </a:prstGeom>
          <a:noFill/>
          <a:ln/>
        </p:spPr>
        <p:txBody>
          <a:bodyPr wrap="square" lIns="0" tIns="0" rIns="0" bIns="0" rtlCol="0" anchor="ctr"/>
          <a:lstStyle/>
          <a:p>
            <a:pPr indent="0" marL="0">
              <a:buNone/>
            </a:pPr>
            <a:r>
              <a:rPr lang="en-US" sz="2800" b="1" dirty="0">
                <a:solidFill>
                  <a:srgbClr val="B8860B"/>
                </a:solidFill>
                <a:latin typeface="Trebuchet MS" pitchFamily="34" charset="0"/>
                <a:ea typeface="Trebuchet MS" pitchFamily="34" charset="-122"/>
                <a:cs typeface="Trebuchet MS" pitchFamily="34" charset="-120"/>
              </a:rPr>
              <a:t>25s</a:t>
            </a:r>
            <a:endParaRPr lang="en-US" sz="2800" dirty="0"/>
          </a:p>
        </p:txBody>
      </p:sp>
      <p:sp>
        <p:nvSpPr>
          <p:cNvPr id="14" name="Text 12"/>
          <p:cNvSpPr/>
          <p:nvPr/>
        </p:nvSpPr>
        <p:spPr>
          <a:xfrm>
            <a:off x="1947672" y="3218688"/>
            <a:ext cx="2350008" cy="320040"/>
          </a:xfrm>
          <a:prstGeom prst="rect">
            <a:avLst/>
          </a:prstGeom>
          <a:noFill/>
          <a:ln/>
        </p:spPr>
        <p:txBody>
          <a:bodyPr wrap="square" lIns="0" tIns="0" rIns="0" bIns="0" rtlCol="0" anchor="ctr"/>
          <a:lstStyle/>
          <a:p>
            <a:pPr indent="0" marL="0">
              <a:buNone/>
            </a:pPr>
            <a:r>
              <a:rPr lang="en-US" sz="1250" b="1" dirty="0">
                <a:solidFill>
                  <a:srgbClr val="776E65"/>
                </a:solidFill>
                <a:latin typeface="Yu Gothic" pitchFamily="34" charset="0"/>
                <a:ea typeface="Yu Gothic" pitchFamily="34" charset="-122"/>
                <a:cs typeface="Yu Gothic" pitchFamily="34" charset="-120"/>
              </a:rPr>
              <a:t>CI (GitHub Actions)</a:t>
            </a:r>
            <a:endParaRPr lang="en-US" sz="1250" dirty="0"/>
          </a:p>
        </p:txBody>
      </p:sp>
      <p:sp>
        <p:nvSpPr>
          <p:cNvPr id="15" name="Text 13"/>
          <p:cNvSpPr/>
          <p:nvPr/>
        </p:nvSpPr>
        <p:spPr>
          <a:xfrm>
            <a:off x="1947672" y="3566160"/>
            <a:ext cx="2350008" cy="868680"/>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push毎に unit+E2E。Node24 の playwright 問題はシステムChromeで回避</a:t>
            </a:r>
            <a:endParaRPr lang="en-US" sz="950" dirty="0"/>
          </a:p>
        </p:txBody>
      </p:sp>
      <p:sp>
        <p:nvSpPr>
          <p:cNvPr id="16" name="Shape 14"/>
          <p:cNvSpPr/>
          <p:nvPr/>
        </p:nvSpPr>
        <p:spPr>
          <a:xfrm>
            <a:off x="4690872" y="3017520"/>
            <a:ext cx="4041648" cy="1481328"/>
          </a:xfrm>
          <a:prstGeom prst="roundRect">
            <a:avLst>
              <a:gd name="adj" fmla="val 4938"/>
            </a:avLst>
          </a:prstGeom>
          <a:solidFill>
            <a:srgbClr val="FFFFFF"/>
          </a:solidFill>
          <a:ln/>
          <a:effectLst>
            <a:outerShdw sx="100000" sy="100000" kx="0" ky="0" algn="bl" rotWithShape="0" blurRad="50800" dist="25400" dir="8100000">
              <a:srgbClr val="9A8F84">
                <a:alpha val="22000"/>
              </a:srgbClr>
            </a:outerShdw>
          </a:effectLst>
        </p:spPr>
      </p:sp>
      <p:sp>
        <p:nvSpPr>
          <p:cNvPr id="17" name="Text 15"/>
          <p:cNvSpPr/>
          <p:nvPr/>
        </p:nvSpPr>
        <p:spPr>
          <a:xfrm>
            <a:off x="4892040" y="3017520"/>
            <a:ext cx="1188720" cy="1481328"/>
          </a:xfrm>
          <a:prstGeom prst="rect">
            <a:avLst/>
          </a:prstGeom>
          <a:noFill/>
          <a:ln/>
        </p:spPr>
        <p:txBody>
          <a:bodyPr wrap="square" lIns="0" tIns="0" rIns="0" bIns="0" rtlCol="0" anchor="ctr"/>
          <a:lstStyle/>
          <a:p>
            <a:pPr indent="0" marL="0">
              <a:buNone/>
            </a:pPr>
            <a:r>
              <a:rPr lang="en-US" sz="2800" b="1" dirty="0">
                <a:solidFill>
                  <a:srgbClr val="776E65"/>
                </a:solidFill>
                <a:latin typeface="Trebuchet MS" pitchFamily="34" charset="0"/>
                <a:ea typeface="Trebuchet MS" pitchFamily="34" charset="-122"/>
                <a:cs typeface="Trebuchet MS" pitchFamily="34" charset="-120"/>
              </a:rPr>
              <a:t>2〜6s</a:t>
            </a:r>
            <a:endParaRPr lang="en-US" sz="2800" dirty="0"/>
          </a:p>
        </p:txBody>
      </p:sp>
      <p:sp>
        <p:nvSpPr>
          <p:cNvPr id="18" name="Text 16"/>
          <p:cNvSpPr/>
          <p:nvPr/>
        </p:nvSpPr>
        <p:spPr>
          <a:xfrm>
            <a:off x="6135624" y="3218688"/>
            <a:ext cx="2350008" cy="320040"/>
          </a:xfrm>
          <a:prstGeom prst="rect">
            <a:avLst/>
          </a:prstGeom>
          <a:noFill/>
          <a:ln/>
        </p:spPr>
        <p:txBody>
          <a:bodyPr wrap="square" lIns="0" tIns="0" rIns="0" bIns="0" rtlCol="0" anchor="ctr"/>
          <a:lstStyle/>
          <a:p>
            <a:pPr indent="0" marL="0">
              <a:buNone/>
            </a:pPr>
            <a:r>
              <a:rPr lang="en-US" sz="1250" b="1" dirty="0">
                <a:solidFill>
                  <a:srgbClr val="776E65"/>
                </a:solidFill>
                <a:latin typeface="Yu Gothic" pitchFamily="34" charset="0"/>
                <a:ea typeface="Yu Gothic" pitchFamily="34" charset="-122"/>
                <a:cs typeface="Yu Gothic" pitchFamily="34" charset="-120"/>
              </a:rPr>
              <a:t>起動 (どの状態からでも)</a:t>
            </a:r>
            <a:endParaRPr lang="en-US" sz="1250" dirty="0"/>
          </a:p>
        </p:txBody>
      </p:sp>
      <p:sp>
        <p:nvSpPr>
          <p:cNvPr id="19" name="Text 17"/>
          <p:cNvSpPr/>
          <p:nvPr/>
        </p:nvSpPr>
        <p:spPr>
          <a:xfrm>
            <a:off x="6135624" y="3566160"/>
            <a:ext cx="2350008" cy="868680"/>
          </a:xfrm>
          <a:prstGeom prst="rect">
            <a:avLst/>
          </a:prstGeom>
          <a:noFill/>
          <a:ln/>
        </p:spPr>
        <p:txBody>
          <a:bodyPr wrap="square" lIns="0" tIns="0" rIns="0" bIns="0" rtlCol="0" anchor="ctr"/>
          <a:lstStyle/>
          <a:p>
            <a:pPr indent="0" marL="0">
              <a:buNone/>
            </a:pPr>
            <a:r>
              <a:rPr lang="en-US" sz="950" dirty="0">
                <a:solidFill>
                  <a:srgbClr val="776E65"/>
                </a:solidFill>
                <a:latin typeface="Yu Gothic" pitchFamily="34" charset="0"/>
                <a:ea typeface="Yu Gothic" pitchFamily="34" charset="-122"/>
                <a:cs typeface="Yu Gothic" pitchFamily="34" charset="-120"/>
              </a:rPr>
              <a:t>残骸・二重起動・ポート占有から自動回復。停止は完全クリーンアップ</a:t>
            </a:r>
            <a:endParaRPr lang="en-US" sz="950" dirty="0"/>
          </a:p>
        </p:txBody>
      </p:sp>
      <p:sp>
        <p:nvSpPr>
          <p:cNvPr id="20" name="Text 18"/>
          <p:cNvSpPr/>
          <p:nvPr/>
        </p:nvSpPr>
        <p:spPr>
          <a:xfrm>
            <a:off x="457200" y="4850892"/>
            <a:ext cx="8229600" cy="228600"/>
          </a:xfrm>
          <a:prstGeom prst="rect">
            <a:avLst/>
          </a:prstGeom>
          <a:noFill/>
          <a:ln/>
        </p:spPr>
        <p:txBody>
          <a:bodyPr wrap="square" lIns="0" tIns="0" rIns="0" bIns="0" rtlCol="0" anchor="ctr"/>
          <a:lstStyle/>
          <a:p>
            <a:pPr algn="r" indent="0" marL="0">
              <a:buNone/>
            </a:pPr>
            <a:r>
              <a:rPr lang="en-US" sz="900" dirty="0">
                <a:solidFill>
                  <a:srgbClr val="9A8F84"/>
                </a:solidFill>
                <a:latin typeface="Yu Gothic" pitchFamily="34" charset="0"/>
                <a:ea typeface="Yu Gothic" pitchFamily="34" charset="-122"/>
                <a:cs typeface="Yu Gothic" pitchFamily="34" charset="-120"/>
              </a:rPr>
              <a:t>2048 AI Benchmark Platform — lutelute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C3A32"/>
        </a:solidFill>
      </p:bgPr>
    </p:bg>
    <p:spTree>
      <p:nvGrpSpPr>
        <p:cNvPr id="1" name=""/>
        <p:cNvGrpSpPr/>
        <p:nvPr/>
      </p:nvGrpSpPr>
      <p:grpSpPr>
        <a:xfrm>
          <a:off x="0" y="0"/>
          <a:ext cx="0" cy="0"/>
          <a:chOff x="0" y="0"/>
          <a:chExt cx="0" cy="0"/>
        </a:xfrm>
      </p:grpSpPr>
      <p:sp>
        <p:nvSpPr>
          <p:cNvPr id="2" name="Text 0"/>
          <p:cNvSpPr/>
          <p:nvPr/>
        </p:nvSpPr>
        <p:spPr>
          <a:xfrm>
            <a:off x="731520" y="411480"/>
            <a:ext cx="7680960" cy="457200"/>
          </a:xfrm>
          <a:prstGeom prst="rect">
            <a:avLst/>
          </a:prstGeom>
          <a:noFill/>
          <a:ln/>
        </p:spPr>
        <p:txBody>
          <a:bodyPr wrap="square" lIns="0" tIns="0" rIns="0" bIns="0" rtlCol="0" anchor="ctr"/>
          <a:lstStyle/>
          <a:p>
            <a:pPr indent="0" marL="0">
              <a:buNone/>
            </a:pPr>
            <a:r>
              <a:rPr lang="en-US" sz="2400" b="1" dirty="0">
                <a:solidFill>
                  <a:srgbClr val="F9F6F2"/>
                </a:solidFill>
                <a:latin typeface="Yu Gothic" pitchFamily="34" charset="0"/>
                <a:ea typeface="Yu Gothic" pitchFamily="34" charset="-122"/>
                <a:cs typeface="Yu Gothic" pitchFamily="34" charset="-120"/>
              </a:rPr>
              <a:t>まとめ</a:t>
            </a:r>
            <a:endParaRPr lang="en-US" sz="2400" dirty="0"/>
          </a:p>
        </p:txBody>
      </p:sp>
      <p:sp>
        <p:nvSpPr>
          <p:cNvPr id="3" name="Shape 1"/>
          <p:cNvSpPr/>
          <p:nvPr/>
        </p:nvSpPr>
        <p:spPr>
          <a:xfrm>
            <a:off x="731520" y="1280160"/>
            <a:ext cx="658368" cy="658368"/>
          </a:xfrm>
          <a:prstGeom prst="roundRect">
            <a:avLst>
              <a:gd name="adj" fmla="val 8333"/>
            </a:avLst>
          </a:prstGeom>
          <a:solidFill>
            <a:srgbClr val="F59563"/>
          </a:solidFill>
          <a:ln/>
        </p:spPr>
      </p:sp>
      <p:sp>
        <p:nvSpPr>
          <p:cNvPr id="4" name="Text 2"/>
          <p:cNvSpPr/>
          <p:nvPr/>
        </p:nvSpPr>
        <p:spPr>
          <a:xfrm>
            <a:off x="731520" y="1261872"/>
            <a:ext cx="658368" cy="658368"/>
          </a:xfrm>
          <a:prstGeom prst="rect">
            <a:avLst/>
          </a:prstGeom>
          <a:noFill/>
          <a:ln/>
        </p:spPr>
        <p:txBody>
          <a:bodyPr wrap="square" lIns="0" tIns="0" rIns="0" bIns="0" rtlCol="0" anchor="ctr"/>
          <a:lstStyle/>
          <a:p>
            <a:pPr algn="ctr" indent="0" marL="0">
              <a:buNone/>
            </a:pPr>
            <a:r>
              <a:rPr lang="en-US" sz="1400" b="1" dirty="0">
                <a:solidFill>
                  <a:srgbClr val="F9F6F2"/>
                </a:solidFill>
                <a:latin typeface="Trebuchet MS" pitchFamily="34" charset="0"/>
                <a:ea typeface="Trebuchet MS" pitchFamily="34" charset="-122"/>
                <a:cs typeface="Trebuchet MS" pitchFamily="34" charset="-120"/>
              </a:rPr>
              <a:t>4000</a:t>
            </a:r>
            <a:endParaRPr lang="en-US" sz="1400" dirty="0"/>
          </a:p>
        </p:txBody>
      </p:sp>
      <p:sp>
        <p:nvSpPr>
          <p:cNvPr id="5" name="Text 3"/>
          <p:cNvSpPr/>
          <p:nvPr/>
        </p:nvSpPr>
        <p:spPr>
          <a:xfrm>
            <a:off x="1600200" y="1280160"/>
            <a:ext cx="6812280" cy="658368"/>
          </a:xfrm>
          <a:prstGeom prst="rect">
            <a:avLst/>
          </a:prstGeom>
          <a:noFill/>
          <a:ln/>
        </p:spPr>
        <p:txBody>
          <a:bodyPr wrap="square" lIns="0" tIns="0" rIns="0" bIns="0" rtlCol="0" anchor="ctr"/>
          <a:lstStyle/>
          <a:p>
            <a:pPr indent="0" marL="0">
              <a:buNone/>
            </a:pPr>
            <a:r>
              <a:rPr lang="en-US" sz="1350" dirty="0">
                <a:solidFill>
                  <a:srgbClr val="EEE4DA"/>
                </a:solidFill>
                <a:latin typeface="Yu Gothic" pitchFamily="34" charset="0"/>
                <a:ea typeface="Yu Gothic" pitchFamily="34" charset="-122"/>
                <a:cs typeface="Yu Gothic" pitchFamily="34" charset="-120"/>
              </a:rPr>
              <a:t>見る — ブラウザ4枚の実機レースを2秒で起動、ライブ観戦</a:t>
            </a:r>
            <a:endParaRPr lang="en-US" sz="1350" dirty="0"/>
          </a:p>
        </p:txBody>
      </p:sp>
      <p:sp>
        <p:nvSpPr>
          <p:cNvPr id="6" name="Shape 4"/>
          <p:cNvSpPr/>
          <p:nvPr/>
        </p:nvSpPr>
        <p:spPr>
          <a:xfrm>
            <a:off x="731520" y="2176272"/>
            <a:ext cx="658368" cy="658368"/>
          </a:xfrm>
          <a:prstGeom prst="roundRect">
            <a:avLst>
              <a:gd name="adj" fmla="val 8333"/>
            </a:avLst>
          </a:prstGeom>
          <a:solidFill>
            <a:srgbClr val="F65E3B"/>
          </a:solidFill>
          <a:ln/>
        </p:spPr>
      </p:sp>
      <p:sp>
        <p:nvSpPr>
          <p:cNvPr id="7" name="Text 5"/>
          <p:cNvSpPr/>
          <p:nvPr/>
        </p:nvSpPr>
        <p:spPr>
          <a:xfrm>
            <a:off x="731520" y="2157984"/>
            <a:ext cx="658368" cy="658368"/>
          </a:xfrm>
          <a:prstGeom prst="rect">
            <a:avLst/>
          </a:prstGeom>
          <a:noFill/>
          <a:ln/>
        </p:spPr>
        <p:txBody>
          <a:bodyPr wrap="square" lIns="0" tIns="0" rIns="0" bIns="0" rtlCol="0" anchor="ctr"/>
          <a:lstStyle/>
          <a:p>
            <a:pPr algn="ctr" indent="0" marL="0">
              <a:buNone/>
            </a:pPr>
            <a:r>
              <a:rPr lang="en-US" sz="1400" b="1" dirty="0">
                <a:solidFill>
                  <a:srgbClr val="F9F6F2"/>
                </a:solidFill>
                <a:latin typeface="Trebuchet MS" pitchFamily="34" charset="0"/>
                <a:ea typeface="Trebuchet MS" pitchFamily="34" charset="-122"/>
                <a:cs typeface="Trebuchet MS" pitchFamily="34" charset="-120"/>
              </a:rPr>
              <a:t>5000</a:t>
            </a:r>
            <a:endParaRPr lang="en-US" sz="1400" dirty="0"/>
          </a:p>
        </p:txBody>
      </p:sp>
      <p:sp>
        <p:nvSpPr>
          <p:cNvPr id="8" name="Text 6"/>
          <p:cNvSpPr/>
          <p:nvPr/>
        </p:nvSpPr>
        <p:spPr>
          <a:xfrm>
            <a:off x="1600200" y="2176272"/>
            <a:ext cx="6812280" cy="658368"/>
          </a:xfrm>
          <a:prstGeom prst="rect">
            <a:avLst/>
          </a:prstGeom>
          <a:noFill/>
          <a:ln/>
        </p:spPr>
        <p:txBody>
          <a:bodyPr wrap="square" lIns="0" tIns="0" rIns="0" bIns="0" rtlCol="0" anchor="ctr"/>
          <a:lstStyle/>
          <a:p>
            <a:pPr indent="0" marL="0">
              <a:buNone/>
            </a:pPr>
            <a:r>
              <a:rPr lang="en-US" sz="1350" dirty="0">
                <a:solidFill>
                  <a:srgbClr val="EEE4DA"/>
                </a:solidFill>
                <a:latin typeface="Yu Gothic" pitchFamily="34" charset="0"/>
                <a:ea typeface="Yu Gothic" pitchFamily="34" charset="-122"/>
                <a:cs typeface="Yu Gothic" pitchFamily="34" charset="-120"/>
              </a:rPr>
              <a:t>測る — 750 games/sec で5アルゴリズムを再現可能にベンチマーク</a:t>
            </a:r>
            <a:endParaRPr lang="en-US" sz="1350" dirty="0"/>
          </a:p>
        </p:txBody>
      </p:sp>
      <p:sp>
        <p:nvSpPr>
          <p:cNvPr id="9" name="Shape 7"/>
          <p:cNvSpPr/>
          <p:nvPr/>
        </p:nvSpPr>
        <p:spPr>
          <a:xfrm>
            <a:off x="731520" y="3072384"/>
            <a:ext cx="658368" cy="658368"/>
          </a:xfrm>
          <a:prstGeom prst="roundRect">
            <a:avLst>
              <a:gd name="adj" fmla="val 8333"/>
            </a:avLst>
          </a:prstGeom>
          <a:solidFill>
            <a:srgbClr val="EDC22E"/>
          </a:solidFill>
          <a:ln/>
        </p:spPr>
      </p:sp>
      <p:sp>
        <p:nvSpPr>
          <p:cNvPr id="10" name="Text 8"/>
          <p:cNvSpPr/>
          <p:nvPr/>
        </p:nvSpPr>
        <p:spPr>
          <a:xfrm>
            <a:off x="731520" y="3054096"/>
            <a:ext cx="658368" cy="658368"/>
          </a:xfrm>
          <a:prstGeom prst="rect">
            <a:avLst/>
          </a:prstGeom>
          <a:noFill/>
          <a:ln/>
        </p:spPr>
        <p:txBody>
          <a:bodyPr wrap="square" lIns="0" tIns="0" rIns="0" bIns="0" rtlCol="0" anchor="ctr"/>
          <a:lstStyle/>
          <a:p>
            <a:pPr algn="ctr" indent="0" marL="0">
              <a:buNone/>
            </a:pPr>
            <a:r>
              <a:rPr lang="en-US" sz="1400" b="1" dirty="0">
                <a:solidFill>
                  <a:srgbClr val="3C3A32"/>
                </a:solidFill>
                <a:latin typeface="Trebuchet MS" pitchFamily="34" charset="0"/>
                <a:ea typeface="Trebuchet MS" pitchFamily="34" charset="-122"/>
                <a:cs typeface="Trebuchet MS" pitchFamily="34" charset="-120"/>
              </a:rPr>
              <a:t>6000</a:t>
            </a:r>
            <a:endParaRPr lang="en-US" sz="1400" dirty="0"/>
          </a:p>
        </p:txBody>
      </p:sp>
      <p:sp>
        <p:nvSpPr>
          <p:cNvPr id="11" name="Text 9"/>
          <p:cNvSpPr/>
          <p:nvPr/>
        </p:nvSpPr>
        <p:spPr>
          <a:xfrm>
            <a:off x="1600200" y="3072384"/>
            <a:ext cx="6812280" cy="658368"/>
          </a:xfrm>
          <a:prstGeom prst="rect">
            <a:avLst/>
          </a:prstGeom>
          <a:noFill/>
          <a:ln/>
        </p:spPr>
        <p:txBody>
          <a:bodyPr wrap="square" lIns="0" tIns="0" rIns="0" bIns="0" rtlCol="0" anchor="ctr"/>
          <a:lstStyle/>
          <a:p>
            <a:pPr indent="0" marL="0">
              <a:buNone/>
            </a:pPr>
            <a:r>
              <a:rPr lang="en-US" sz="1350" dirty="0">
                <a:solidFill>
                  <a:srgbClr val="EEE4DA"/>
                </a:solidFill>
                <a:latin typeface="Yu Gothic" pitchFamily="34" charset="0"/>
                <a:ea typeface="Yu Gothic" pitchFamily="34" charset="-122"/>
                <a:cs typeface="Yu Gothic" pitchFamily="34" charset="-120"/>
              </a:rPr>
              <a:t>育てる — AIが自分でコードを改善 (実演でスコア19倍)。RLは毎手リアルタイム学習</a:t>
            </a:r>
            <a:endParaRPr lang="en-US" sz="1350" dirty="0"/>
          </a:p>
        </p:txBody>
      </p:sp>
      <p:sp>
        <p:nvSpPr>
          <p:cNvPr id="12" name="Shape 10"/>
          <p:cNvSpPr/>
          <p:nvPr/>
        </p:nvSpPr>
        <p:spPr>
          <a:xfrm>
            <a:off x="731520" y="4069080"/>
            <a:ext cx="7680960" cy="0"/>
          </a:xfrm>
          <a:prstGeom prst="line">
            <a:avLst/>
          </a:prstGeom>
          <a:noFill/>
          <a:ln w="9525">
            <a:solidFill>
              <a:srgbClr val="5A574D"/>
            </a:solidFill>
            <a:prstDash val="solid"/>
          </a:ln>
        </p:spPr>
      </p:sp>
      <p:sp>
        <p:nvSpPr>
          <p:cNvPr id="13" name="Text 11"/>
          <p:cNvSpPr/>
          <p:nvPr/>
        </p:nvSpPr>
        <p:spPr>
          <a:xfrm>
            <a:off x="731520" y="4251960"/>
            <a:ext cx="7680960" cy="411480"/>
          </a:xfrm>
          <a:prstGeom prst="rect">
            <a:avLst/>
          </a:prstGeom>
          <a:noFill/>
          <a:ln/>
        </p:spPr>
        <p:txBody>
          <a:bodyPr wrap="square" lIns="0" tIns="0" rIns="0" bIns="0" rtlCol="0" anchor="ctr"/>
          <a:lstStyle/>
          <a:p>
            <a:pPr indent="0" marL="0">
              <a:buNone/>
            </a:pPr>
            <a:r>
              <a:rPr lang="en-US" sz="1250" dirty="0">
                <a:solidFill>
                  <a:srgbClr val="BBADA0"/>
                </a:solidFill>
                <a:latin typeface="Trebuchet MS" pitchFamily="34" charset="0"/>
                <a:ea typeface="Trebuchet MS" pitchFamily="34" charset="-122"/>
                <a:cs typeface="Trebuchet MS" pitchFamily="34" charset="-120"/>
              </a:rPr>
              <a:t>Try it:  </a:t>
            </a:r>
            <a:pPr indent="0" marL="0">
              <a:buNone/>
            </a:pPr>
            <a:r>
              <a:rPr lang="en-US" sz="1250" dirty="0">
                <a:solidFill>
                  <a:srgbClr val="EDC22E"/>
                </a:solidFill>
                <a:latin typeface="Menlo" pitchFamily="34" charset="0"/>
                <a:ea typeface="Menlo" pitchFamily="34" charset="-122"/>
                <a:cs typeface="Menlo" pitchFamily="34" charset="-120"/>
              </a:rPr>
              <a:t>./benchmark/launch-race.sh 10</a:t>
            </a:r>
            <a:pPr indent="0" marL="0">
              <a:buNone/>
            </a:pPr>
            <a:r>
              <a:rPr lang="en-US" sz="1250" dirty="0">
                <a:solidFill>
                  <a:srgbClr val="EEE4DA"/>
                </a:solidFill>
                <a:latin typeface="Trebuchet MS" pitchFamily="34" charset="0"/>
                <a:ea typeface="Trebuchet MS" pitchFamily="34" charset="-122"/>
                <a:cs typeface="Trebuchet MS" pitchFamily="34" charset="-120"/>
              </a:rPr>
              <a:t>   ·   github.com/lutelute/2048_project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2048 AI Benchmark Platform</dc:title>
  <dc:subject>PptxGenJS Presentation</dc:subject>
  <dc:creator>lutelute</dc:creator>
  <cp:lastModifiedBy>lutelute</cp:lastModifiedBy>
  <cp:revision>1</cp:revision>
  <dcterms:created xsi:type="dcterms:W3CDTF">2026-06-12T02:01:28Z</dcterms:created>
  <dcterms:modified xsi:type="dcterms:W3CDTF">2026-06-12T02:01:28Z</dcterms:modified>
</cp:coreProperties>
</file>