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平均スコア</c:v>
                </c:pt>
              </c:strCache>
            </c:strRef>
          </c:tx>
          <c:spPr>
            <a:solidFill>
              <a:srgbClr val="D97757"/>
            </a:solidFill>
            <a:ln>
              <a:solidFill>
                <a:srgbClr val="D97757"/>
              </a:solidFill>
            </a:ln>
          </c:spPr>
          <c:cat>
            <c:strRef>
              <c:f>Sheet1!$A$2:$A$6</c:f>
              <c:strCache>
                <c:ptCount val="5"/>
                <c:pt idx="0">
                  <c:v>random</c:v>
                </c:pt>
                <c:pt idx="1">
                  <c:v>greedy</c:v>
                </c:pt>
                <c:pt idx="2">
                  <c:v>montecarlo</c:v>
                </c:pt>
                <c:pt idx="3">
                  <c:v>expectimax</c:v>
                </c:pt>
                <c:pt idx="4">
                  <c:v>rl (学習済み)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1114.0</c:v>
                </c:pt>
                <c:pt idx="1">
                  <c:v>3086.0</c:v>
                </c:pt>
                <c:pt idx="2">
                  <c:v>12000.0</c:v>
                </c:pt>
                <c:pt idx="3">
                  <c:v>21370.0</c:v>
                </c:pt>
                <c:pt idx="4">
                  <c:v>29086.0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8E6DC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E8E6DC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平均スコア</c:v>
                </c:pt>
              </c:strCache>
            </c:strRef>
          </c:tx>
          <c:spPr>
            <a:solidFill>
              <a:srgbClr val="D97757"/>
            </a:solidFill>
            <a:ln>
              <a:solidFill>
                <a:srgbClr val="D97757"/>
              </a:solidFill>
            </a:ln>
          </c:spPr>
          <c:cat>
            <c:strRef>
              <c:f>Sheet1!$A$2:$A$11</c:f>
              <c:strCache>
                <c:ptCount val="10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2274.0</c:v>
                </c:pt>
                <c:pt idx="1">
                  <c:v>3047.0</c:v>
                </c:pt>
                <c:pt idx="2">
                  <c:v>4037.0</c:v>
                </c:pt>
                <c:pt idx="3">
                  <c:v>4594.0</c:v>
                </c:pt>
                <c:pt idx="4">
                  <c:v>4804.0</c:v>
                </c:pt>
                <c:pt idx="5">
                  <c:v>5624.0</c:v>
                </c:pt>
                <c:pt idx="6">
                  <c:v>5746.0</c:v>
                </c:pt>
                <c:pt idx="7">
                  <c:v>6566.0</c:v>
                </c:pt>
                <c:pt idx="8">
                  <c:v>6920.0</c:v>
                </c:pt>
                <c:pt idx="9">
                  <c:v>6912.0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8E6DC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E8E6DC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4000=ブラウザレース、5000=ヘッドレス評価、6000=自己改善の3層構成。全データは実測値。</a:t>
            </a:r>
          </a:p>
          <a:p/>
          <a:p>
            <a:r>
              <a:t>_class: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rq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ゲームロジックはReact版とヘッドレス版で28件のパリティテストにより同一性を保証。盤面UIも3層で統一済み。</a:t>
            </a:r>
          </a:p>
          <a:p/>
          <a:p>
            <a:r>
              <a:t>_class: stack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equation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table-slide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zone-process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big-number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SEED指定でタイル出現が決定論的になり、結果が再現可能。Node24のplaywright installハングはシステムChromeで回避。</a:t>
            </a:r>
          </a:p>
          <a:p/>
          <a:p>
            <a:r>
              <a:t>_class: 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takeaway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ea typeface="Hiragino Sans"/>
                <a:cs typeface="Hiragino Sans"/>
              </a:rPr>
              <a:t>Click to edit Master subtitle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Hiragino Sans"/>
                <a:cs typeface="Hiragino Sans"/>
              </a:defRPr>
            </a:lvl1pPr>
            <a:lvl2pPr>
              <a:defRPr sz="2800">
                <a:ea typeface="Hiragino Sans"/>
                <a:cs typeface="Hiragino Sans"/>
              </a:defRPr>
            </a:lvl2pPr>
            <a:lvl3pPr>
              <a:defRPr sz="2400">
                <a:ea typeface="Hiragino Sans"/>
                <a:cs typeface="Hiragino Sans"/>
              </a:defRPr>
            </a:lvl3pPr>
            <a:lvl4pPr>
              <a:defRPr sz="2000">
                <a:ea typeface="Hiragino Sans"/>
                <a:cs typeface="Hiragino Sans"/>
              </a:defRPr>
            </a:lvl4pPr>
            <a:lvl5pPr>
              <a:defRPr sz="2000">
                <a:ea typeface="Hiragino Sans"/>
                <a:cs typeface="Hiragino Sans"/>
              </a:defRPr>
            </a:lvl5pPr>
            <a:lvl6pPr>
              <a:defRPr sz="2000">
                <a:ea typeface="Hiragino Sans"/>
                <a:cs typeface="Hiragino Sans"/>
              </a:defRPr>
            </a:lvl6pPr>
            <a:lvl7pPr>
              <a:defRPr sz="2000">
                <a:ea typeface="Hiragino Sans"/>
                <a:cs typeface="Hiragino Sans"/>
              </a:defRPr>
            </a:lvl7pPr>
            <a:lvl8pPr>
              <a:defRPr sz="2000">
                <a:ea typeface="Hiragino Sans"/>
                <a:cs typeface="Hiragino Sans"/>
              </a:defRPr>
            </a:lvl8pPr>
            <a:lvl9pPr>
              <a:defRPr sz="20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ea typeface="Hiragino Sans"/>
                <a:cs typeface="Hiragino Sans"/>
              </a:defRPr>
            </a:lvl1pPr>
            <a:lvl2pPr marL="457200" indent="0">
              <a:buNone/>
              <a:defRPr sz="2800">
                <a:ea typeface="Hiragino Sans"/>
                <a:cs typeface="Hiragino Sans"/>
              </a:defRPr>
            </a:lvl2pPr>
            <a:lvl3pPr marL="914400" indent="0">
              <a:buNone/>
              <a:defRPr sz="2400">
                <a:ea typeface="Hiragino Sans"/>
                <a:cs typeface="Hiragino Sans"/>
              </a:defRPr>
            </a:lvl3pPr>
            <a:lvl4pPr marL="1371600" indent="0">
              <a:buNone/>
              <a:defRPr sz="2000">
                <a:ea typeface="Hiragino Sans"/>
                <a:cs typeface="Hiragino Sans"/>
              </a:defRPr>
            </a:lvl4pPr>
            <a:lvl5pPr marL="1828800" indent="0">
              <a:buNone/>
              <a:defRPr sz="2000">
                <a:ea typeface="Hiragino Sans"/>
                <a:cs typeface="Hiragino Sans"/>
              </a:defRPr>
            </a:lvl5pPr>
            <a:lvl6pPr marL="2286000" indent="0">
              <a:buNone/>
              <a:defRPr sz="2000">
                <a:ea typeface="Hiragino Sans"/>
                <a:cs typeface="Hiragino Sans"/>
              </a:defRPr>
            </a:lvl6pPr>
            <a:lvl7pPr marL="2743200" indent="0">
              <a:buNone/>
              <a:defRPr sz="2000">
                <a:ea typeface="Hiragino Sans"/>
                <a:cs typeface="Hiragino Sans"/>
              </a:defRPr>
            </a:lvl7pPr>
            <a:lvl8pPr marL="3200400" indent="0">
              <a:buNone/>
              <a:defRPr sz="2000">
                <a:ea typeface="Hiragino Sans"/>
                <a:cs typeface="Hiragino Sans"/>
              </a:defRPr>
            </a:lvl8pPr>
            <a:lvl9pPr marL="3657600" indent="0">
              <a:buNone/>
              <a:defRPr sz="2000">
                <a:ea typeface="Hiragino Sans"/>
                <a:cs typeface="Hiragino Sans"/>
              </a:defRPr>
            </a:lvl9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Hiragino Sans"/>
          <a:cs typeface="Hiragino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9pPr>
    </p:bodyStyle>
    <p:otherStyle>
      <a:defPPr>
        <a:defRPr lang="en-US">
          <a:ea typeface="Hiragino Sans"/>
          <a:cs typeface="Hiragino Sans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3172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B3502F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— AIエージェントを2048で測る3層ベンチマーク —</a:t>
            </a:r>
          </a:p>
        </p:txBody>
      </p:sp>
      <p:sp>
        <p:nvSpPr>
          <p:cNvPr id="3" name="Rectangle 2"/>
          <p:cNvSpPr/>
          <p:nvPr/>
        </p:nvSpPr>
        <p:spPr>
          <a:xfrm>
            <a:off x="5592927" y="2889504"/>
            <a:ext cx="1005840" cy="20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54096"/>
            <a:ext cx="10728655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6000"/>
              </a:lnSpc>
              <a:defRPr sz="4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2048 AI Benchmark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617720"/>
            <a:ext cx="9997135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>
                <a:solidFill>
                  <a:srgbClr val="73706A"/>
                </a:solidFill>
                <a:latin typeface="Avenir Next"/>
                <a:ea typeface="Hiragino Sans"/>
                <a:cs typeface="Hiragino Sans"/>
              </a:rPr>
              <a:t>lutelute</a:t>
            </a:r>
          </a:p>
          <a:p>
            <a:pPr algn="ctr">
              <a:spcBef>
                <a:spcPts val="400"/>
              </a:spcBef>
            </a:pPr>
            <a:r>
              <a:rPr sz="1800">
                <a:solidFill>
                  <a:srgbClr val="73706A"/>
                </a:solidFill>
                <a:latin typeface="Avenir Next"/>
                <a:ea typeface="Hiragino Sans"/>
                <a:cs typeface="Hiragino Sans"/>
              </a:rPr>
              <a:t>github.com/lutelute/2048_project  |  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本日の内容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27632"/>
            <a:ext cx="822960" cy="8412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627632"/>
            <a:ext cx="10051999" cy="8412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何を測るか — ベンチマークの設計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456180"/>
            <a:ext cx="11057839" cy="9525"/>
          </a:xfrm>
          <a:prstGeom prst="rect">
            <a:avLst/>
          </a:prstGeom>
          <a:solidFill>
            <a:srgbClr val="E0D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468880"/>
            <a:ext cx="822960" cy="8412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2468880"/>
            <a:ext cx="10051999" cy="8412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3層アーキテクチャ (4000 / 5000 / 6000番台)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297428"/>
            <a:ext cx="11057839" cy="9525"/>
          </a:xfrm>
          <a:prstGeom prst="rect">
            <a:avLst/>
          </a:prstGeom>
          <a:solidFill>
            <a:srgbClr val="E0D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310128"/>
            <a:ext cx="822960" cy="8412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3310128"/>
            <a:ext cx="10051999" cy="8412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RL エージェントの仕組みと学習の実証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138676"/>
            <a:ext cx="11057839" cy="9525"/>
          </a:xfrm>
          <a:prstGeom prst="rect">
            <a:avLst/>
          </a:prstGeom>
          <a:solidFill>
            <a:srgbClr val="E0D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151376"/>
            <a:ext cx="822960" cy="8412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4151376"/>
            <a:ext cx="10051999" cy="8412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自己改善ループの実演結果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979924"/>
            <a:ext cx="11057839" cy="9525"/>
          </a:xfrm>
          <a:prstGeom prst="rect">
            <a:avLst/>
          </a:prstGeom>
          <a:solidFill>
            <a:srgbClr val="E0D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992624"/>
            <a:ext cx="822960" cy="8412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4992624"/>
            <a:ext cx="10051999" cy="8412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品質保証とまとめ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Research Question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62134" y="2625852"/>
            <a:ext cx="9067427" cy="1203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62134" y="2625852"/>
            <a:ext cx="9067427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90734" y="2892552"/>
            <a:ext cx="8610227" cy="7086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AIエージェントの「視覚認識・操作・アルゴリズム設計・自己改善」を、単一のゲームでどう定量比較するか？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62134" y="4104132"/>
            <a:ext cx="9067427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defRPr sz="14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— 2048 を共通課題に、難易度の異なる3層のベンチマークを構成する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3層アーキテクチャ — ポート番号が難易度層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4297680"/>
            <a:ext cx="11057839" cy="914400"/>
          </a:xfrm>
          <a:prstGeom prst="roundRect">
            <a:avLst>
              <a:gd name="adj" fmla="val 3500"/>
            </a:avLst>
          </a:prstGeom>
          <a:solidFill>
            <a:srgbClr val="F3F3F2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4526280"/>
            <a:ext cx="1060063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4000番台 — ブラウザレース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React製2048を Playwright で実機操作。スクショ読取→キー入力。4エージェント同時レースをダッシュボード観戦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273552"/>
            <a:ext cx="11057839" cy="914400"/>
          </a:xfrm>
          <a:prstGeom prst="roundRect">
            <a:avLst>
              <a:gd name="adj" fmla="val 3500"/>
            </a:avLst>
          </a:prstGeom>
          <a:solidFill>
            <a:srgbClr val="ECECEB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3502152"/>
            <a:ext cx="1060063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5000番台 — ヘッドレスAI評価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ブラウザなし・750+ games/sec。random / greedy / montecarlo / expectimax / rl + 自作AI (my-ai.mjs)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49424"/>
            <a:ext cx="11057839" cy="914400"/>
          </a:xfrm>
          <a:prstGeom prst="roundRect">
            <a:avLst>
              <a:gd name="adj" fmla="val 3500"/>
            </a:avLst>
          </a:prstGeom>
          <a:solidFill>
            <a:srgbClr val="E6E5E5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478024"/>
            <a:ext cx="1060063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6000番台 — AI自己改善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AI CLI (claude / codex / gemini) が自分でコードを書き換え、評価→改善のループを自走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4000番台 — ブラウザレース</a:t>
            </a:r>
          </a:p>
        </p:txBody>
      </p:sp>
      <p:pic>
        <p:nvPicPr>
          <p:cNvPr id="3" name="Picture 2" descr="dash-4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327" y="1353312"/>
            <a:ext cx="4857041" cy="3434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4924552"/>
            <a:ext cx="1105783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4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Fig. 1. レースダッシュボード (:4000)。4エージェントの順位・学習曲線・統一盤面をライブ表示。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518912"/>
            <a:ext cx="11057839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16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2秒</a:t>
            </a: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でレース起動 (残骸・二重起動・ポート占有があっても自動回復)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実ブラウザ4枚が自動プレイ — スクショ読取→キー操作の </a:t>
            </a:r>
            <a:r>
              <a:rPr sz="16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GUI-only ルール</a:t>
            </a: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 (DOM覗き見・ソース改造は禁止)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5000番台 — アルゴリズム別の平均スコア (実測)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66928" y="1353312"/>
          <a:ext cx="11057839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5788152"/>
            <a:ext cx="11057839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4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各50〜200ゲームの実測平均。rl は約25万ゲーム事前学習済みモデル使用時 (勝率63%・最大タイル4096)。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RL の学習則 — Afterstate TD(0)</a:t>
            </a:r>
          </a:p>
        </p:txBody>
      </p:sp>
      <p:pic>
        <p:nvPicPr>
          <p:cNvPr id="3" name="Picture 2" descr="72dac1b3195cfb0a43b433db61db26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515" y="1991868"/>
            <a:ext cx="9480665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55367" y="2613660"/>
            <a:ext cx="155448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200" b="1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 spc="180">
                <a:ea typeface="Hiragino Sans"/>
                <a:cs typeface="Hiragino Sans"/>
              </a:rPr>
              <a:t>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8447" y="2851404"/>
            <a:ext cx="9525" cy="1755648"/>
          </a:xfrm>
          <a:prstGeom prst="rect">
            <a:avLst/>
          </a:prstGeom>
          <a:solidFill>
            <a:srgbClr val="E8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55367" y="281482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defRPr sz="1800" b="1" i="1">
                <a:solidFill>
                  <a:srgbClr val="B3502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V(·)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7047" y="281482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7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盤面価値 — 12本の 4-tuple LUT (行4+列4+2×2正方形4) で近似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5367" y="327202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defRPr sz="1800" b="1" i="1">
                <a:solidFill>
                  <a:srgbClr val="B3502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s't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7047" y="327202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7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afterstate (手を打った直後・新タイル出現前の盤面)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5367" y="372922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defRPr sz="1800" b="1" i="1">
                <a:solidFill>
                  <a:srgbClr val="B3502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047" y="372922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7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即時報酬 (マージで得たスコア)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5367" y="418642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defRPr sz="1800" b="1" i="1">
                <a:solidFill>
                  <a:srgbClr val="B3502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7047" y="418642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7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学習率 0.1 (8対称 × 12タプル = 96 で正規化)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291072"/>
            <a:ext cx="2560320" cy="9525"/>
          </a:xfrm>
          <a:prstGeom prst="rect">
            <a:avLst/>
          </a:prstGeom>
          <a:solidFill>
            <a:srgbClr val="E8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3545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Szubert &amp; Jaśkowski (2014) の N-tuple network。盤面の8対称 (回転4×反転2) で重みを共有。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学習は常時オン — 「プレイ = 学習」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24812"/>
            <a:ext cx="11057839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16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実行モードの違いは開始点と保存だけ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2473452"/>
          <a:ext cx="11057839" cy="2057400"/>
        </p:xfrm>
        <a:graphic>
          <a:graphicData uri="http://schemas.openxmlformats.org/drawingml/2006/table">
            <a:tbl>
              <a:tblPr/>
              <a:tblGrid>
                <a:gridCol w="2764459"/>
                <a:gridCol w="2764459"/>
                <a:gridCol w="2764459"/>
                <a:gridCol w="2764462"/>
              </a:tblGrid>
              <a:tr h="51435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モード</a:t>
                      </a:r>
                    </a:p>
                  </a:txBody>
                  <a:tcPr anchor="ctr" marL="127000" marR="127000" marT="63500" marB="63500">
                    <a:lnB w="19050" cap="flat" cmpd="sng" algn="ctr">
                      <a:solidFill>
                        <a:srgbClr val="14141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重みの開始点</a:t>
                      </a:r>
                    </a:p>
                  </a:txBody>
                  <a:tcPr anchor="ctr" marL="127000" marR="127000" marT="63500" marB="63500">
                    <a:lnB w="19050" cap="flat" cmpd="sng" algn="ctr">
                      <a:solidFill>
                        <a:srgbClr val="14141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学習</a:t>
                      </a:r>
                    </a:p>
                  </a:txBody>
                  <a:tcPr anchor="ctr" marL="127000" marR="127000" marT="63500" marB="63500">
                    <a:lnB w="19050" cap="flat" cmpd="sng" algn="ctr">
                      <a:solidFill>
                        <a:srgbClr val="14141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保存</a:t>
                      </a:r>
                    </a:p>
                  </a:txBody>
                  <a:tcPr anchor="ctr" marL="127000" marR="127000" marT="63500" marB="63500">
                    <a:lnB w="19050" cap="flat" cmpd="sng" algn="ctr">
                      <a:solidFill>
                        <a:srgbClr val="14141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ダッシュボード Run (既定)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学習済み rl-model.bin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毎手リアルタイム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なし (揮発)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`RL_LOAD=0`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ゼロ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毎手リアルタイム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なし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`RL_SAVE=1 RL_LOAD=0`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ゼロ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毎手リアルタイム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終了時に保存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6928" y="4713732"/>
            <a:ext cx="11057839" cy="822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4713732"/>
            <a:ext cx="50800" cy="822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4815332"/>
            <a:ext cx="10626039" cy="619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推論専用モードは存在しない</a:t>
            </a: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: chooseMove が呼ばれるたびに TD(0) 更新が走る。普段見ている rl は「25万ゲームの事前学習 + 走行中のリアルタイム学習」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学習の実証 — ゼロから1,000ゲーム (所要1.3秒)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66928" y="1353312"/>
          <a:ext cx="11057839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5788152"/>
            <a:ext cx="11057839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4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RL_LOAD=0 で重みゼロから開始。100ゲームごとの平均スコア。最大タイルは 512 → 1024 に成長。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6000番台 — 自己改善ループ (エージェント役で実演)</a:t>
            </a:r>
          </a:p>
        </p:txBody>
      </p:sp>
      <p:sp>
        <p:nvSpPr>
          <p:cNvPr id="3" name="Oval 2"/>
          <p:cNvSpPr/>
          <p:nvPr/>
        </p:nvSpPr>
        <p:spPr>
          <a:xfrm>
            <a:off x="1597113" y="1645920"/>
            <a:ext cx="512064" cy="512064"/>
          </a:xfrm>
          <a:prstGeom prst="ellipse">
            <a:avLst/>
          </a:prstGeom>
          <a:solidFill>
            <a:srgbClr val="5A5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322576"/>
            <a:ext cx="2572435" cy="34930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551176"/>
            <a:ext cx="2115235" cy="3035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18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コードを書く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my-ai.mjs に chooseMove を実装 (初期状態は random)</a:t>
            </a:r>
          </a:p>
        </p:txBody>
      </p:sp>
      <p:sp>
        <p:nvSpPr>
          <p:cNvPr id="6" name="Oval 5"/>
          <p:cNvSpPr/>
          <p:nvPr/>
        </p:nvSpPr>
        <p:spPr>
          <a:xfrm>
            <a:off x="4425580" y="1645920"/>
            <a:ext cx="512064" cy="512064"/>
          </a:xfrm>
          <a:prstGeom prst="ellipse">
            <a:avLst/>
          </a:prstGeom>
          <a:solidFill>
            <a:srgbClr val="5A5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5395" y="2322576"/>
            <a:ext cx="2572435" cy="34930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3995" y="2551176"/>
            <a:ext cx="2115235" cy="3035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18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evaluate 実行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node ai/evaluate.mjs --games 50 で自己評価</a:t>
            </a:r>
          </a:p>
        </p:txBody>
      </p:sp>
      <p:sp>
        <p:nvSpPr>
          <p:cNvPr id="9" name="Oval 8"/>
          <p:cNvSpPr/>
          <p:nvPr/>
        </p:nvSpPr>
        <p:spPr>
          <a:xfrm>
            <a:off x="7254047" y="1645920"/>
            <a:ext cx="512064" cy="512064"/>
          </a:xfrm>
          <a:prstGeom prst="ellipse">
            <a:avLst/>
          </a:prstGeom>
          <a:solidFill>
            <a:srgbClr val="5A5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2" y="2322576"/>
            <a:ext cx="2572435" cy="34930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2" y="2551176"/>
            <a:ext cx="2115235" cy="3035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18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結果を読む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平均スコア・勝率・タイル分布から弱点を分析</a:t>
            </a:r>
          </a:p>
        </p:txBody>
      </p:sp>
      <p:sp>
        <p:nvSpPr>
          <p:cNvPr id="12" name="Oval 11"/>
          <p:cNvSpPr/>
          <p:nvPr/>
        </p:nvSpPr>
        <p:spPr>
          <a:xfrm>
            <a:off x="10082514" y="1645920"/>
            <a:ext cx="512064" cy="512064"/>
          </a:xfrm>
          <a:prstGeom prst="ellipse">
            <a:avLst/>
          </a:prstGeom>
          <a:solidFill>
            <a:srgbClr val="5A5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329" y="2322576"/>
            <a:ext cx="2572435" cy="34930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0929" y="2551176"/>
            <a:ext cx="2115235" cy="3035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18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改善して再挑戦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greedy → expectimax と段階改善。run 履歴はダッシュボードに記録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自己改善の実演結果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493137"/>
            <a:ext cx="11057839" cy="160654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defRPr sz="110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19×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8647" y="4117974"/>
            <a:ext cx="914400" cy="3175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45990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6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defRPr>
            </a:pPr>
            <a:r>
              <a:rPr spc="140">
                <a:ea typeface="Hiragino Sans"/>
                <a:cs typeface="Hiragino Sans"/>
              </a:rPr>
              <a:t>スコア改善 (3ステップ)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703190"/>
            <a:ext cx="1105783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4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random 1,114 → greedy 3,086 → expectimax 21,370 (勝率42%)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291072"/>
            <a:ext cx="2560320" cy="9525"/>
          </a:xfrm>
          <a:prstGeom prst="rect">
            <a:avLst/>
          </a:prstGeom>
          <a:solidFill>
            <a:srgbClr val="E8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545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実演: runs/claude-code の selfimp-0/1/2 (各50ゲーム)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品質保証 — 壊れないための仕組み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2496312"/>
            <a:ext cx="2558719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496312"/>
            <a:ext cx="2558719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763012"/>
            <a:ext cx="2101519" cy="19735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rPr>
              <a:t>67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ユニットテスト (パリティ28件含む)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99967" y="2496312"/>
            <a:ext cx="2558719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99967" y="2496312"/>
            <a:ext cx="2558719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8567" y="2763012"/>
            <a:ext cx="2101519" cy="19735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rPr>
              <a:t>38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E2E 実ブラウザ検証 (3層 15+8+15)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6" y="2496312"/>
            <a:ext cx="2558719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6" y="2496312"/>
            <a:ext cx="2558719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6" y="2763012"/>
            <a:ext cx="2101519" cy="19735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rPr>
              <a:t>25s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CI 所要時間 (push 毎に全テスト)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6045" y="2496312"/>
            <a:ext cx="2558719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66045" y="2496312"/>
            <a:ext cx="2558719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4645" y="2763012"/>
            <a:ext cx="2101519" cy="19735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rPr>
              <a:t>2〜6s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レース起動 (どの状態からでも)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キーメッセージ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207" y="2394204"/>
            <a:ext cx="1097280" cy="3175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2595372"/>
            <a:ext cx="10143439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2048 ひとつで、AIの「見る・操作する・設計する・育つ」を同じ土俵で測れる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3926332"/>
            <a:ext cx="8497519" cy="93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•  3層構成: ブラウザ実機レース → 高速ヘッドレス評価 → 自己改善ループ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•  RL は毎手リアルタイム学習 — ゼロから1,000ゲーム(1.3秒)で平均スコア3倍を実測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•  テスト・CI・SEED再現性・統一盤面UIまで整備済み、コマンド一発でデモ可能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92927" y="2697480"/>
            <a:ext cx="1005840" cy="20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2895" cy="726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4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6052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./benchmark/launch-race.sh 10 で今すぐ観戦できます</a:t>
            </a:r>
          </a:p>
          <a:p>
            <a:pPr algn="ctr">
              <a:spcBef>
                <a:spcPts val="400"/>
              </a:spcBef>
              <a:defRPr sz="18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github.com/lutelute/2048_project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